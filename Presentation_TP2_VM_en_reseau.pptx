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charts/chart1.xml" ContentType="application/vnd.openxmlformats-officedocument.drawingml.chart+xml"/>
  <Override PartName="/ppt/charts/chart2.xml" ContentType="application/vnd.openxmlformats-officedocument.drawingml.chart+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bd2ab8c3-e3c7-4af3-680f-47aa8e49e97f}">
          <p14:sldIdLst>
            <p14:sldId id="256"/>
            <p14:sldId id="257"/>
          </p14:sldIdLst>
        </p14:section>
        <p14:section name="Partie 1 — Clonage" id="{e8c5cf25-ea97-6fce-eb99-677084b954e5}">
          <p14:sldIdLst>
            <p14:sldId id="258"/>
            <p14:sldId id="259"/>
            <p14:sldId id="260"/>
            <p14:sldId id="261"/>
          </p14:sldIdLst>
        </p14:section>
        <p14:section name="Partie 2 — Réseau" id="{1e0e1b25-67a2-f0d8-7d79-5bc45434e158}">
          <p14:sldIdLst>
            <p14:sldId id="262"/>
          </p14:sldIdLst>
        </p14:section>
        <p14:section name="Partie 3 — Web et pare-feu" id="{0dbacfb1-baca-8035-045d-5738e0b6419b}">
          <p14:sldIdLst>
            <p14:sldId id="263"/>
            <p14:sldId id="264"/>
            <p14:sldId id="265"/>
            <p14:sldId id="266"/>
          </p14:sldIdLst>
        </p14:section>
        <p14:section name="Partie 4 — Mesures" id="{2da7b2c9-3f23-5905-0eb3-dbf7cfcc2939}">
          <p14:sldIdLst>
            <p14:sldId id="267"/>
            <p14:sldId id="268"/>
          </p14:sldIdLst>
        </p14:section>
        <p14:section name="Conclusion" id="{e29cbaa7-e7c8-6288-60f5-373e477649c6}">
          <p14:sldIdLst>
            <p14:sldId id="26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600" b="0" i="0" u="none" strike="noStrike">
                <a:solidFill>
                  <a:srgbClr val="1B2A34"/>
                </a:solidFill>
                <a:latin typeface="+mn-lt"/>
              </a:defRPr>
            </a:pPr>
            <a:r>
              <a:rPr sz="1600" b="0" i="0" u="none" strike="noStrike">
                <a:solidFill>
                  <a:srgbClr val="1B2A34"/>
                </a:solidFill>
                <a:latin typeface="+mn-lt"/>
              </a:rPr>
              <a:t>Mémoire (Mo)</a:t>
            </a:r>
          </a:p>
        </c:rich>
      </c:tx>
      <c:layout/>
      <c:overlay val="0"/>
    </c:title>
    <c:autoTitleDeleted val="0"/>
    <c:plotArea>
      <c:layout/>
      <c:barChart>
        <c:barDir val="col"/>
        <c:grouping val="clustered"/>
        <c:varyColors val="0"/>
        <c:ser>
          <c:idx val="0"/>
          <c:order val="0"/>
          <c:tx>
            <c:strRef>
              <c:f>Sheet1!$B$1</c:f>
              <c:strCache>
                <c:ptCount val="1"/>
                <c:pt idx="0">
                  <c:v>Mémoire (Mo)</c:v>
                </c:pt>
              </c:strCache>
            </c:strRef>
          </c:tx>
          <c:spPr>
            <a:solidFill>
              <a:srgbClr val="1F7A8C"/>
            </a:solidFill>
            <a:effectLst/>
          </c:spPr>
          <c:invertIfNegative val="0"/>
          <c:dLbls>
            <c:numFmt formatCode="#,##0" sourceLinked="0"/>
            <c:txPr>
              <a:bodyPr/>
              <a:lstStyle/>
              <a:p>
                <a:pPr>
                  <a:defRPr b="0" i="0" strike="noStrike" sz="1200" u="none">
                    <a:solidFill>
                      <a:srgbClr val="1B2A34"/>
                    </a:solidFill>
                    <a:latin typeface="+mn-lt"/>
                  </a:defRPr>
                </a:pPr>
              </a:p>
            </c:txPr>
            <c:showLegendKey val="0"/>
            <c:showVal val="1"/>
            <c:showCatName val="0"/>
            <c:showSerName val="0"/>
            <c:showPercent val="0"/>
            <c:showBubbleSize val="0"/>
            <c:showLeaderLines val="0"/>
          </c:dLbls>
          <c:cat>
            <c:multiLvlStrRef>
              <c:f>Sheet1!$A$2:$A$5</c:f>
              <c:multiLvlStrCache>
                <c:ptCount val="4"/>
                <c:lvl>
                  <c:pt idx="0">
                    <c:v>RAM vue par web</c:v>
                  </c:pt>
                  <c:pt idx="1">
                    <c:v>RAM utilisée par web</c:v>
                  </c:pt>
                  <c:pt idx="2">
                    <c:v>Processus hôte 1</c:v>
                  </c:pt>
                  <c:pt idx="3">
                    <c:v>Processus hôte 2</c:v>
                  </c:pt>
                </c:lvl>
              </c:multiLvlStrCache>
            </c:multiLvlStrRef>
          </c:cat>
          <c:val>
            <c:numRef>
              <c:f>Sheet1!$B$2:$B$5</c:f>
              <c:numCache>
                <c:formatCode>General</c:formatCode>
                <c:ptCount val="4"/>
                <c:pt idx="0">
                  <c:v>956</c:v>
                </c:pt>
                <c:pt idx="1">
                  <c:v>258</c:v>
                </c:pt>
                <c:pt idx="2">
                  <c:v>813</c:v>
                </c:pt>
                <c:pt idx="3">
                  <c:v>766</c:v>
                </c:pt>
              </c:numCache>
            </c:numRef>
          </c:val>
        </c:ser>
        <c:dLbls>
          <c:numFmt formatCode="#,##0" sourceLinked="0"/>
          <c:txPr>
            <a:bodyPr/>
            <a:lstStyle/>
            <a:p>
              <a:pPr>
                <a:defRPr b="0" i="0" strike="noStrike" sz="1200" u="none">
                  <a:solidFill>
                    <a:srgbClr val="1B2A34"/>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1B2A34"/>
                </a:solidFill>
                <a:latin typeface="+mn-lt"/>
              </a:defRPr>
            </a:pPr>
            <a:endParaRPr lang="en-US"/>
          </a:p>
        </c:txPr>
        <c:crossAx val="2094734552"/>
        <c:crosses val="autoZero"/>
        <c:auto val="1"/>
        <c:lblAlgn val="ctr"/>
        <c:noMultiLvlLbl val="1"/>
      </c:catAx>
      <c:valAx>
        <c:axId val="2094734552"/>
        <c:scaling>
          <c:orientation val="minMax"/>
          <c:max val="1100"/>
          <c:min val="0"/>
        </c:scaling>
        <c:delete val="0"/>
        <c:axPos val="l"/>
        <c:majorGridlines>
          <c:spPr>
            <a:ln w="6350" cap="flat">
              <a:solidFill>
                <a:srgbClr val="D5DEE3"/>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C6B75"/>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600" b="0" i="0" u="none" strike="noStrike">
                <a:solidFill>
                  <a:srgbClr val="1B2A34"/>
                </a:solidFill>
                <a:latin typeface="+mn-lt"/>
              </a:defRPr>
            </a:pPr>
            <a:r>
              <a:rPr sz="1600" b="0" i="0" u="none" strike="noStrike">
                <a:solidFill>
                  <a:srgbClr val="1B2A34"/>
                </a:solidFill>
                <a:latin typeface="+mn-lt"/>
              </a:rPr>
              <a:t>Disque (Go)</a:t>
            </a:r>
          </a:p>
        </c:rich>
      </c:tx>
      <c:layout/>
      <c:overlay val="0"/>
    </c:title>
    <c:autoTitleDeleted val="0"/>
    <c:plotArea>
      <c:layout/>
      <c:barChart>
        <c:barDir val="col"/>
        <c:grouping val="clustered"/>
        <c:varyColors val="0"/>
        <c:ser>
          <c:idx val="0"/>
          <c:order val="0"/>
          <c:tx>
            <c:strRef>
              <c:f>Sheet1!$B$1</c:f>
              <c:strCache>
                <c:ptCount val="1"/>
                <c:pt idx="0">
                  <c:v>Disque (Go)</c:v>
                </c:pt>
              </c:strCache>
            </c:strRef>
          </c:tx>
          <c:spPr>
            <a:solidFill>
              <a:srgbClr val="F4A259"/>
            </a:solidFill>
            <a:effectLst/>
          </c:spPr>
          <c:invertIfNegative val="0"/>
          <c:dLbls>
            <c:numFmt formatCode="0.00" sourceLinked="0"/>
            <c:txPr>
              <a:bodyPr/>
              <a:lstStyle/>
              <a:p>
                <a:pPr>
                  <a:defRPr b="0" i="0" strike="noStrike" sz="1200" u="none">
                    <a:solidFill>
                      <a:srgbClr val="1B2A34"/>
                    </a:solidFill>
                    <a:latin typeface="+mn-lt"/>
                  </a:defRPr>
                </a:pPr>
              </a:p>
            </c:txPr>
            <c:showLegendKey val="0"/>
            <c:showVal val="1"/>
            <c:showCatName val="0"/>
            <c:showSerName val="0"/>
            <c:showPercent val="0"/>
            <c:showBubbleSize val="0"/>
            <c:showLeaderLines val="0"/>
          </c:dLbls>
          <c:cat>
            <c:multiLvlStrRef>
              <c:f>Sheet1!$A$2:$A$4</c:f>
              <c:multiLvlStrCache>
                <c:ptCount val="3"/>
                <c:lvl>
                  <c:pt idx="0">
                    <c:v>Capacité virtuelle</c:v>
                  </c:pt>
                  <c:pt idx="1">
                    <c:v>web sur l’hôte</c:v>
                  </c:pt>
                  <c:pt idx="2">
                    <c:v>client sur l’hôte</c:v>
                  </c:pt>
                </c:lvl>
              </c:multiLvlStrCache>
            </c:multiLvlStrRef>
          </c:cat>
          <c:val>
            <c:numRef>
              <c:f>Sheet1!$B$2:$B$4</c:f>
              <c:numCache>
                <c:formatCode>General</c:formatCode>
                <c:ptCount val="3"/>
                <c:pt idx="0">
                  <c:v>25</c:v>
                </c:pt>
                <c:pt idx="1">
                  <c:v>8.08</c:v>
                </c:pt>
                <c:pt idx="2">
                  <c:v>7.9</c:v>
                </c:pt>
              </c:numCache>
            </c:numRef>
          </c:val>
        </c:ser>
        <c:dLbls>
          <c:numFmt formatCode="0.00" sourceLinked="0"/>
          <c:txPr>
            <a:bodyPr/>
            <a:lstStyle/>
            <a:p>
              <a:pPr>
                <a:defRPr b="0" i="0" strike="noStrike" sz="1200" u="none">
                  <a:solidFill>
                    <a:srgbClr val="1B2A34"/>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1B2A34"/>
                </a:solidFill>
                <a:latin typeface="+mn-lt"/>
              </a:defRPr>
            </a:pPr>
            <a:endParaRPr lang="en-US"/>
          </a:p>
        </c:txPr>
        <c:crossAx val="2094734552"/>
        <c:crosses val="autoZero"/>
        <c:auto val="1"/>
        <c:lblAlgn val="ctr"/>
        <c:noMultiLvlLbl val="1"/>
      </c:catAx>
      <c:valAx>
        <c:axId val="2094734552"/>
        <c:scaling>
          <c:orientation val="minMax"/>
          <c:max val="30"/>
          <c:min val="0"/>
        </c:scaling>
        <c:delete val="0"/>
        <c:axPos val="l"/>
        <c:majorGridlines>
          <c:spPr>
            <a:ln w="6350" cap="flat">
              <a:solidFill>
                <a:srgbClr val="D5DEE3"/>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C6B75"/>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Bonjour. Nous sommes le groupe de KOUASSI KOUAKOU Yann Loïc, KANGAH KOUAME Luc Martial et FOFANA CHEICH Mansour. Nous présentons le TP 2 du cours d’introduction au Cloud Computing, encadré par le Dr Bakayoko. Le thème : deux machines virtuelles en réseau avec VirtualBox. En une heure environ, nous allons cloner des machines, les relier dans un sous-réseau privé, publier un site web, le protéger avec un pare-feu, puis mesurer ce que cela consomme.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L’idée du TP est de reproduire sur un PC les trois gestes d’une instance cloud IaaS. L’image, c’est notre VM ubuntu-srv. Le sous-réseau privé, c’est un réseau NAT VirtualBox appelé tp-cloud, en 10.10.0.0/24. Le groupe de sécurité, c’est le pare-feu ufw. Deux machines vivent dans ce réseau : web en 10.10.0.10 et client en 10.10.0.20. Le routeur 10.10.0.1 sert de passerelle. L’hôte ne peut les joindre que par trois redirections de port : 2222, 2223 et 8080.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Première partie : créer les machines par clonage. Dans le cloud, on ne réinstalle jamais un système, on lance une instance à partir d’une image. Ici l’image est ubuntu-srv. Nous avons chronométré le clonage de web avec Measure-Command : 49,5 secondes. L’installation d’Ubuntu au TP précédent avait duré environ 8 minutes, et mettre en service un serveur physique prend des jours. C’est l’élasticité du cloud. Nous avons ensuite cloné client, et réduit chaque clone à 1 vCPU et 1 Go de RAM.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Nous créons ensuite le réseau NAT tp-cloud, sans DHCP puisque les adresses seront fixes. La commande natnetwork list montre le réseau 10.10.0.0/24, la passerelle 10.10.0.1 et les trois redirections de port : deux pour le SSH et une pour le web. En dessous, showvminfo confirme que web a bien 1024 Mo de mémoire, un processeur, et que sa carte réseau est branchée sur tp-cloud.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 clone est une copie exacte, donc il faut le personnaliser : nom d’hôte, identifiant de machine et clés SSH. Nous avons aussi rencontré un vrai problème. Après avoir écrit notre fichier netplan, la commande répondait qu’elle ne trouvait pas l’interface. La cause : le fichier d’origine, hérité de l’image, liait la carte réseau à l’adresse MAC de ubuntu-srv. Le clone a une autre MAC, donc rien ne correspondait. Nous avons déplacé ce fichier, et web a obtenu l’adresse 10.10.0.10. Même chose pour client en 10.10.0.20.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Après redémarrage, nous nous connectons en SSH depuis Windows grâce aux redirections de port : le port 2222 mène à web, le port 2223 à client. La commande hostnamectl confirme que web tourne sous Ubuntu 26.04.1 LTS avec le noyau 7.0.0-38. Côté client, le nom d’hôte est bien client et l’adresse 10.10.0.20. La partie 1 est terminée : deux machines créées, personnalisées et accessibles.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Partie 2. Depuis client, les pings vers web, vers la passerelle et vers Internet réussissent tous, sans perte. Vers web, le temps moyen est d’environ 5 millisecondes : c’est faible car tout reste dans la même machine physique, via un commutateur virtuel. La table de routage montre la route par défaut via 10.10.0.1. À droite, le ping depuis Windows vers 10.10.0.10 échoue : le réseau NAT est un sous-réseau privé. L’hôte ne joint web en SSH que grâce à la redirection de port. C’est l’équivalent d’une adresse IP publique avec une règle entrante.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Partie 3 : publier une page web. Nous installons Nginx sur web, et nous vérifions qu’il est actif avec systemctl status. Nous remplaçons la page d’accueil par un message avec le nom de notre groupe. La page s’affiche depuis client avec curl, et depuis le navigateur de Windows à l’adresse 127.0.0.1 port 8080, grâce à la redirection vers le port 80 de web.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Nous activons maintenant le pare-feu ufw, en autorisant d’abord OpenSSH, sinon nous perdrions l’accès SSH. Seule la règle OpenSSH est présente, la politique par défaut refuse tout le reste en entrée. Depuis client, curl avec un délai de 5 secondes échoue : connexion expirée, code retour 28. Le pare-feu ignore les paquets au lieu de les refuser, donc le client attend. Dans le navigateur, Edge finit par afficher une erreur de connexion réinitialisée : VirtualBox accepte la connexion, ne reçoit rien de web, puis la coupe.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Nous ouvrons ensuite le port HTTP avec ufw allow Nginx HTTP. La liste des règles montre OpenSSH et Nginx HTTP, en IPv4 et en IPv6. La commande ss -tlnp confirme que Nginx écoute sur le port 80, sur toutes les interfaces : 0.0.0.0:80 et [::]:80. Le service SSH écoute sur le port 22. Le navigateur affiche de nouveau la page du groupe.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Faisons le lien avec le cours. Dans ce TP, nous sommes clients d’un service IaaS. VirtualBox a fourni le matériel virtualisé, le stockage et le réseau. Nous avons géré le système d’exploitation, l’adresse IP, le pare-feu, le serveur Nginx et la page web. Le pare-feu ufw joue le rôle d’un groupe de sécurité : mêmes règles de ports, même refus par défaut. La différence, c’est que ufw s’exécute dans la VM et peut être modifié de l’intérieur, alors qu’un groupe de sécurité est appliqué à l’extérieur de l’instance par le fournisseur.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Partie 4 : mesurer. Vue de l’intérieur, web dispose de 956 mégaoctets de RAM et n’en utilise que 258. Sur l’hôte, les deux processus VirtualBox occupent environ 813 et 766 mégaoctets : plus que la mémoire réellement utilisée, car le cache disque reste alloué. Côté disque, chaque clone a une capacité de 25 gigaoctets, mais ne prend que 8 gigaoctets sur l’hôte : le format VDI est en allocation dynamique, il grossit au fur et à mesure des écritures.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Pour finir, le nettoyage. Nous arrêtons proprement les machines avec acpipowerbutton, nous démarrons web sans fenêtre avec le mode headless, comme une instance cloud, puis nous coupons brutalement avec poweroff. unregistervm avec l’option delete supprime la VM et son disque, définitivement : c’est l’équivalent de terminer une instance. Nous supprimons aussi le réseau tp-cloud. À la fin, la liste des machines ne contient plus que ubuntu-srv, que nous gardons comme image de base. Dans le cloud, une VM arrêtée n’est plus facturée pour le calcul, mais son disque et son adresse IP publique le sont encore.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Pour conclure, ce TP nous a montré trois choses. Premièrement, une image et un clone suffisent pour avoir une machine en moins d’une minute, à condition de la personnaliser, comme nous l’avons vu avec l’adresse MAC. Deuxièmement, dans un réseau privé, un service n’est joignable que par les ports explicitement ouverts. Troisièmement, il faut mesurer : ce que voit la machine virtuelle n’est pas ce que consomme réellement l’hôte. Merci de votre attention.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RE">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1463040"/>
            <a:ext cx="6766560" cy="2286000"/>
          </a:xfrm>
          <a:prstGeom prst="rect">
            <a:avLst/>
          </a:prstGeom>
          <a:noFill/>
          <a:ln/>
        </p:spPr>
        <p:txBody>
          <a:bodyPr wrap="square" rtlCol="0"/>
          <a:lstStyle>
            <a:lvl1pPr algn="l" indent="0" marL="0">
              <a:buNone/>
              <a:defRPr lang="en-US" sz="4400" b="1" dirty="0">
                <a:solidFill>
                  <a:schemeClr val="bg1"/>
                </a:solidFill>
              </a:defRPr>
            </a:lvl1pPr>
          </a:lstStyle>
          <a:p>
            <a:pPr algn="l" indent="0" marL="0">
              <a:buNone/>
            </a:pPr>
            <a:endParaRPr lang="en-US" sz="4400" dirty="0"/>
          </a:p>
        </p:txBody>
      </p:sp>
      <p:sp>
        <p:nvSpPr>
          <p:cNvPr id="3" name="Text 0"/>
          <p:cNvSpPr/>
          <p:nvPr>
            <p:ph idx="101" type="body" hasCustomPrompt="1"/>
          </p:nvPr>
        </p:nvSpPr>
        <p:spPr>
          <a:xfrm>
            <a:off x="731520" y="3931920"/>
            <a:ext cx="6766560" cy="822960"/>
          </a:xfrm>
          <a:prstGeom prst="rect">
            <a:avLst/>
          </a:prstGeom>
          <a:noFill/>
          <a:ln/>
        </p:spPr>
        <p:txBody>
          <a:bodyPr wrap="square" rtlCol="0"/>
          <a:lstStyle>
            <a:lvl1pPr algn="l" indent="0" marL="0">
              <a:buNone/>
              <a:defRPr lang="en-US" sz="1800" dirty="0">
                <a:solidFill>
                  <a:schemeClr val="accent6"/>
                </a:solidFill>
              </a:defRPr>
            </a:lvl1pPr>
          </a:lstStyle>
          <a:p>
            <a:pPr algn="l" indent="0" marL="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U">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566928"/>
            <a:ext cx="11064240" cy="777240"/>
          </a:xfrm>
          <a:prstGeom prst="rect">
            <a:avLst/>
          </a:prstGeom>
          <a:noFill/>
          <a:ln/>
        </p:spPr>
        <p:txBody>
          <a:bodyPr wrap="square" rtlCol="0"/>
          <a:lstStyle>
            <a:lvl1pPr algn="l" indent="0" marL="0">
              <a:buNone/>
              <a:defRPr lang="en-US" sz="3400" b="1" dirty="0">
                <a:solidFill>
                  <a:schemeClr val="tx2"/>
                </a:solidFill>
              </a:defRPr>
            </a:lvl1pPr>
          </a:lstStyle>
          <a:p>
            <a:pPr algn="l" indent="0" marL="0">
              <a:buNone/>
            </a:pPr>
            <a:endParaRPr lang="en-US" sz="3400" dirty="0"/>
          </a:p>
        </p:txBody>
      </p:sp>
      <p:sp>
        <p:nvSpPr>
          <p:cNvPr id="3" name="Text 0"/>
          <p:cNvSpPr/>
          <p:nvPr/>
        </p:nvSpPr>
        <p:spPr>
          <a:xfrm>
            <a:off x="548640" y="6419088"/>
            <a:ext cx="8229600" cy="274320"/>
          </a:xfrm>
          <a:prstGeom prst="rect">
            <a:avLst/>
          </a:prstGeom>
          <a:noFill/>
          <a:ln/>
        </p:spPr>
        <p:txBody>
          <a:bodyPr wrap="square" lIns="0" tIns="0" rIns="0" bIns="0" rtlCol="0" anchor="ctr"/>
          <a:lstStyle/>
          <a:p>
            <a:pPr indent="0" marL="0">
              <a:buNone/>
            </a:pPr>
            <a:r>
              <a:rPr lang="en-US" sz="1000" dirty="0">
                <a:solidFill>
                  <a:schemeClr val="accent5"/>
                </a:solidFill>
              </a:rPr>
              <a:t>TP 2 · Introduction au Cloud Computing · L3 SI — RIST &amp; BDGL</a:t>
            </a:r>
            <a:endParaRPr lang="en-US" sz="10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C6B75"/>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CLUSION">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640080"/>
            <a:ext cx="11064240" cy="822960"/>
          </a:xfrm>
          <a:prstGeom prst="rect">
            <a:avLst/>
          </a:prstGeom>
          <a:noFill/>
          <a:ln/>
        </p:spPr>
        <p:txBody>
          <a:bodyPr wrap="square" rtlCol="0"/>
          <a:lstStyle>
            <a:lvl1pPr algn="l" indent="0" marL="0">
              <a:buNone/>
              <a:defRPr lang="en-US" sz="3800" b="1" dirty="0">
                <a:solidFill>
                  <a:schemeClr val="bg1"/>
                </a:solidFill>
              </a:defRPr>
            </a:lvl1pPr>
          </a:lstStyle>
          <a:p>
            <a:pPr algn="l" indent="0" marL="0">
              <a:buNone/>
            </a:pPr>
            <a:endParaRPr lang="en-US" sz="38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C6B7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3.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3.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3.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3.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3.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3.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slideLayout" Target="../slideLayouts/slideLayout3.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3.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chart" Target="/ppt/charts/chart2.xml"/><Relationship Id="rId3" Type="http://schemas.openxmlformats.org/officeDocument/2006/relationships/slideLayout" Target="../slideLayouts/slideLayout3.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3.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1463040"/>
            <a:ext cx="6766560" cy="2286000"/>
          </a:xfrm>
          <a:prstGeom prst="rect">
            <a:avLst/>
          </a:prstGeom>
          <a:noFill/>
          <a:ln/>
        </p:spPr>
        <p:txBody>
          <a:bodyPr wrap="square" lIns="0" tIns="0" rIns="0" bIns="0" rtlCol="0" anchor="t"/>
          <a:lstStyle/>
          <a:p>
            <a:pPr algn="l" indent="0" marL="0">
              <a:buNone/>
            </a:pPr>
            <a:r>
              <a:rPr lang="en-US" sz="4400" b="1" dirty="0">
                <a:solidFill>
                  <a:schemeClr val="bg1"/>
                </a:solidFill>
              </a:rPr>
              <a:t>Deux machines virtuelles en réseau avec VirtualBox</a:t>
            </a:r>
            <a:endParaRPr lang="en-US" sz="4400" dirty="0"/>
          </a:p>
        </p:txBody>
      </p:sp>
      <p:sp>
        <p:nvSpPr>
          <p:cNvPr id="3" name="Text 0"/>
          <p:cNvSpPr/>
          <p:nvPr>
            <p:ph idx="101" type="body" hasCustomPrompt="1"/>
          </p:nvPr>
        </p:nvSpPr>
        <p:spPr>
          <a:xfrm>
            <a:off x="731520" y="3931920"/>
            <a:ext cx="6766560" cy="822960"/>
          </a:xfrm>
          <a:prstGeom prst="rect">
            <a:avLst/>
          </a:prstGeom>
          <a:noFill/>
          <a:ln/>
        </p:spPr>
        <p:txBody>
          <a:bodyPr wrap="square" lIns="0" tIns="0" rIns="0" bIns="0" rtlCol="0" anchor="t"/>
          <a:lstStyle/>
          <a:p>
            <a:pPr algn="l" indent="0" marL="0">
              <a:buNone/>
            </a:pPr>
            <a:r>
              <a:rPr lang="en-US" sz="1800" dirty="0">
                <a:solidFill>
                  <a:schemeClr val="accent6"/>
                </a:solidFill>
              </a:rPr>
              <a:t>TP 2 · Séance 2 — Introduction au Cloud Computing</a:t>
            </a:r>
            <a:endParaRPr lang="en-US" sz="1800" dirty="0"/>
          </a:p>
          <a:p>
            <a:pPr algn="l" indent="0" marL="0">
              <a:buNone/>
            </a:pPr>
            <a:r>
              <a:rPr lang="en-US" sz="1800" dirty="0">
                <a:solidFill>
                  <a:schemeClr val="accent6"/>
                </a:solidFill>
              </a:rPr>
              <a:t>L3 SI — RIST &amp; BDGL</a:t>
            </a:r>
            <a:endParaRPr lang="en-US" sz="1800" dirty="0"/>
          </a:p>
        </p:txBody>
      </p:sp>
      <p:sp>
        <p:nvSpPr>
          <p:cNvPr id="4" name="Enseignant et groupe"/>
          <p:cNvSpPr txBox="1"/>
          <p:nvPr/>
        </p:nvSpPr>
        <p:spPr>
          <a:xfrm>
            <a:off x="731520" y="5212080"/>
            <a:ext cx="6949440" cy="1005840"/>
          </a:xfrm>
          <a:prstGeom prst="rect">
            <a:avLst/>
          </a:prstGeom>
          <a:noFill/>
          <a:ln/>
        </p:spPr>
        <p:txBody>
          <a:bodyPr wrap="square" lIns="0" tIns="0" rIns="0" bIns="0" rtlCol="0" anchor="t"/>
          <a:lstStyle/>
          <a:p>
            <a:pPr indent="0" marL="0">
              <a:buNone/>
            </a:pPr>
            <a:r>
              <a:rPr lang="en-US" sz="1500" b="1" dirty="0">
                <a:solidFill>
                  <a:schemeClr val="accent2"/>
                </a:solidFill>
              </a:rPr>
              <a:t>Enseignant : </a:t>
            </a:r>
            <a:pPr indent="0" marL="0">
              <a:buNone/>
            </a:pPr>
            <a:r>
              <a:rPr lang="en-US" sz="1500" dirty="0">
                <a:solidFill>
                  <a:schemeClr val="bg1"/>
                </a:solidFill>
              </a:rPr>
              <a:t>Dr Bakayoko</a:t>
            </a:r>
            <a:endParaRPr lang="en-US" sz="1500" dirty="0"/>
          </a:p>
          <a:p>
            <a:pPr indent="0" marL="0">
              <a:buNone/>
            </a:pPr>
            <a:r>
              <a:rPr lang="en-US" sz="1500" b="1" dirty="0">
                <a:solidFill>
                  <a:schemeClr val="accent2"/>
                </a:solidFill>
              </a:rPr>
              <a:t>Groupe : </a:t>
            </a:r>
            <a:pPr indent="0" marL="0">
              <a:buNone/>
            </a:pPr>
            <a:r>
              <a:rPr lang="en-US" sz="1500" dirty="0">
                <a:solidFill>
                  <a:schemeClr val="bg1"/>
                </a:solidFill>
              </a:rPr>
              <a:t>KOUASSI KOUAKOU YANN LOIC — KANGAH KOUAME LUC MARTIAL — FOFANA CHEICH MANSOUR</a:t>
            </a:r>
            <a:endParaRPr lang="en-US" sz="1500" dirty="0"/>
          </a:p>
        </p:txBody>
      </p:sp>
      <p:sp>
        <p:nvSpPr>
          <p:cNvPr id="5" name="Motif réseau"/>
          <p:cNvSpPr/>
          <p:nvPr/>
        </p:nvSpPr>
        <p:spPr>
          <a:xfrm>
            <a:off x="8138160" y="1737360"/>
            <a:ext cx="3566160" cy="3291840"/>
          </a:xfrm>
          <a:prstGeom prst="roundRect">
            <a:avLst>
              <a:gd name="adj" fmla="val 5556"/>
            </a:avLst>
          </a:prstGeom>
          <a:solidFill>
            <a:schemeClr val="tx2"/>
          </a:solidFill>
          <a:ln w="25400">
            <a:solidFill>
              <a:schemeClr val="accent2"/>
            </a:solidFill>
            <a:prstDash val="dash"/>
          </a:ln>
        </p:spPr>
      </p:sp>
      <p:sp>
        <p:nvSpPr>
          <p:cNvPr id="6" name="Motif lien"/>
          <p:cNvSpPr/>
          <p:nvPr/>
        </p:nvSpPr>
        <p:spPr>
          <a:xfrm>
            <a:off x="8595360" y="3657600"/>
            <a:ext cx="2651760" cy="0"/>
          </a:xfrm>
          <a:prstGeom prst="line">
            <a:avLst/>
          </a:prstGeom>
          <a:noFill/>
          <a:ln w="38100">
            <a:solidFill>
              <a:schemeClr val="accent6"/>
            </a:solidFill>
            <a:prstDash val="solid"/>
          </a:ln>
        </p:spPr>
      </p:sp>
      <p:sp>
        <p:nvSpPr>
          <p:cNvPr id="7" name="Motif VM web"/>
          <p:cNvSpPr/>
          <p:nvPr/>
        </p:nvSpPr>
        <p:spPr>
          <a:xfrm>
            <a:off x="8321040" y="2926080"/>
            <a:ext cx="1371600" cy="1051560"/>
          </a:xfrm>
          <a:prstGeom prst="roundRect">
            <a:avLst>
              <a:gd name="adj" fmla="val 10435"/>
            </a:avLst>
          </a:prstGeom>
          <a:solidFill>
            <a:schemeClr val="accent1"/>
          </a:solidFill>
          <a:ln/>
        </p:spPr>
      </p:sp>
      <p:sp>
        <p:nvSpPr>
          <p:cNvPr id="8" name="Motif VM client"/>
          <p:cNvSpPr/>
          <p:nvPr/>
        </p:nvSpPr>
        <p:spPr>
          <a:xfrm>
            <a:off x="10149840" y="2926080"/>
            <a:ext cx="1371600" cy="1051560"/>
          </a:xfrm>
          <a:prstGeom prst="roundRect">
            <a:avLst>
              <a:gd name="adj" fmla="val 10435"/>
            </a:avLst>
          </a:prstGeom>
          <a:solidFill>
            <a:schemeClr val="accent1"/>
          </a:solidFill>
          <a:ln/>
        </p:spPr>
      </p:sp>
      <p:sp>
        <p:nvSpPr>
          <p:cNvPr id="9" name="Motif texte web"/>
          <p:cNvSpPr txBox="1"/>
          <p:nvPr/>
        </p:nvSpPr>
        <p:spPr>
          <a:xfrm>
            <a:off x="8321040" y="2926080"/>
            <a:ext cx="1371600" cy="1051560"/>
          </a:xfrm>
          <a:prstGeom prst="rect">
            <a:avLst/>
          </a:prstGeom>
          <a:noFill/>
          <a:ln/>
        </p:spPr>
        <p:txBody>
          <a:bodyPr wrap="square" lIns="0" tIns="0" rIns="0" bIns="0" rtlCol="0" anchor="ctr"/>
          <a:lstStyle/>
          <a:p>
            <a:pPr algn="ctr" indent="0" marL="0">
              <a:buNone/>
            </a:pPr>
            <a:r>
              <a:rPr lang="en-US" sz="1800" b="1" dirty="0">
                <a:solidFill>
                  <a:schemeClr val="bg1"/>
                </a:solidFill>
              </a:rPr>
              <a:t>web</a:t>
            </a:r>
            <a:endParaRPr lang="en-US" sz="1800" dirty="0"/>
          </a:p>
        </p:txBody>
      </p:sp>
      <p:sp>
        <p:nvSpPr>
          <p:cNvPr id="10" name="Motif texte client"/>
          <p:cNvSpPr txBox="1"/>
          <p:nvPr/>
        </p:nvSpPr>
        <p:spPr>
          <a:xfrm>
            <a:off x="10149840" y="2926080"/>
            <a:ext cx="1371600" cy="1051560"/>
          </a:xfrm>
          <a:prstGeom prst="rect">
            <a:avLst/>
          </a:prstGeom>
          <a:noFill/>
          <a:ln/>
        </p:spPr>
        <p:txBody>
          <a:bodyPr wrap="square" lIns="0" tIns="0" rIns="0" bIns="0" rtlCol="0" anchor="ctr"/>
          <a:lstStyle/>
          <a:p>
            <a:pPr algn="ctr" indent="0" marL="0">
              <a:buNone/>
            </a:pPr>
            <a:r>
              <a:rPr lang="en-US" sz="1800" b="1" dirty="0">
                <a:solidFill>
                  <a:schemeClr val="bg1"/>
                </a:solidFill>
              </a:rPr>
              <a:t>client</a:t>
            </a:r>
            <a:endParaRPr lang="en-US" sz="1800" dirty="0"/>
          </a:p>
        </p:txBody>
      </p:sp>
      <p:sp>
        <p:nvSpPr>
          <p:cNvPr id="11" name="Motif sous-réseau"/>
          <p:cNvSpPr txBox="1"/>
          <p:nvPr/>
        </p:nvSpPr>
        <p:spPr>
          <a:xfrm>
            <a:off x="8321040" y="2103120"/>
            <a:ext cx="3200400" cy="365760"/>
          </a:xfrm>
          <a:prstGeom prst="rect">
            <a:avLst/>
          </a:prstGeom>
          <a:noFill/>
          <a:ln/>
        </p:spPr>
        <p:txBody>
          <a:bodyPr wrap="square" lIns="0" tIns="0" rIns="0" bIns="0" rtlCol="0" anchor="t"/>
          <a:lstStyle/>
          <a:p>
            <a:pPr algn="ctr" indent="0" marL="0">
              <a:buNone/>
            </a:pPr>
            <a:r>
              <a:rPr lang="en-US" sz="1600" b="1" dirty="0">
                <a:solidFill>
                  <a:schemeClr val="accent2"/>
                </a:solidFill>
              </a:rPr>
              <a:t>10.10.0.0/24</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Repère de partie"/>
          <p:cNvSpPr txBox="1"/>
          <p:nvPr/>
        </p:nvSpPr>
        <p:spPr>
          <a:xfrm>
            <a:off x="548640" y="274320"/>
            <a:ext cx="8229600" cy="274320"/>
          </a:xfrm>
          <a:prstGeom prst="rect">
            <a:avLst/>
          </a:prstGeom>
          <a:noFill/>
          <a:ln/>
        </p:spPr>
        <p:txBody>
          <a:bodyPr wrap="square" lIns="0" tIns="0" rIns="0" bIns="0" rtlCol="0" anchor="t"/>
          <a:lstStyle/>
          <a:p>
            <a:pPr indent="0" marL="0">
              <a:buNone/>
            </a:pPr>
            <a:r>
              <a:rPr lang="en-US" sz="1200" b="1" spc="200" kern="0" dirty="0">
                <a:solidFill>
                  <a:schemeClr val="accent1"/>
                </a:solidFill>
              </a:rPr>
              <a:t>OBJECTIF</a:t>
            </a:r>
            <a:endParaRPr lang="en-US" sz="1200" dirty="0"/>
          </a:p>
        </p:txBody>
      </p:sp>
      <p:sp>
        <p:nvSpPr>
          <p:cNvPr id="3" name="Text 0"/>
          <p:cNvSpPr/>
          <p:nvPr>
            <p:ph idx="100" type="title" hasCustomPrompt="1"/>
          </p:nvPr>
        </p:nvSpPr>
        <p:spPr>
          <a:xfrm>
            <a:off x="548640" y="566928"/>
            <a:ext cx="11064240" cy="777240"/>
          </a:xfrm>
          <a:prstGeom prst="rect">
            <a:avLst/>
          </a:prstGeom>
          <a:noFill/>
          <a:ln/>
        </p:spPr>
        <p:txBody>
          <a:bodyPr wrap="square" lIns="0" tIns="0" rIns="0" bIns="0" rtlCol="0" anchor="ctr"/>
          <a:lstStyle/>
          <a:p>
            <a:pPr algn="l" indent="0" marL="0">
              <a:buNone/>
            </a:pPr>
            <a:r>
              <a:rPr lang="en-US" sz="3400" b="1" dirty="0">
                <a:solidFill>
                  <a:schemeClr val="tx2"/>
                </a:solidFill>
              </a:rPr>
              <a:t>Un mini cloud sur un PC</a:t>
            </a:r>
            <a:endParaRPr lang="en-US" sz="3400" dirty="0"/>
          </a:p>
        </p:txBody>
      </p:sp>
      <p:sp>
        <p:nvSpPr>
          <p:cNvPr id="4" name="Hôte"/>
          <p:cNvSpPr/>
          <p:nvPr/>
        </p:nvSpPr>
        <p:spPr>
          <a:xfrm>
            <a:off x="548640" y="1508760"/>
            <a:ext cx="7406640" cy="4709160"/>
          </a:xfrm>
          <a:prstGeom prst="roundRect">
            <a:avLst>
              <a:gd name="adj" fmla="val 2330"/>
            </a:avLst>
          </a:prstGeom>
          <a:solidFill>
            <a:schemeClr val="bg2"/>
          </a:solidFill>
          <a:ln/>
        </p:spPr>
      </p:sp>
      <p:sp>
        <p:nvSpPr>
          <p:cNvPr id="5" name="Titre hôte"/>
          <p:cNvSpPr txBox="1"/>
          <p:nvPr/>
        </p:nvSpPr>
        <p:spPr>
          <a:xfrm>
            <a:off x="777240" y="1645920"/>
            <a:ext cx="5486400" cy="320040"/>
          </a:xfrm>
          <a:prstGeom prst="rect">
            <a:avLst/>
          </a:prstGeom>
          <a:noFill/>
          <a:ln/>
        </p:spPr>
        <p:txBody>
          <a:bodyPr wrap="square" lIns="0" tIns="0" rIns="0" bIns="0" rtlCol="0" anchor="t"/>
          <a:lstStyle/>
          <a:p>
            <a:pPr indent="0" marL="0">
              <a:buNone/>
            </a:pPr>
            <a:r>
              <a:rPr lang="en-US" sz="1400" b="1" dirty="0">
                <a:solidFill>
                  <a:schemeClr val="tx2"/>
                </a:solidFill>
              </a:rPr>
              <a:t>PC hôte · Windows + VirtualBox</a:t>
            </a:r>
            <a:endParaRPr lang="en-US" sz="1400" dirty="0"/>
          </a:p>
        </p:txBody>
      </p:sp>
      <p:sp>
        <p:nvSpPr>
          <p:cNvPr id="6" name="Redirection 1"/>
          <p:cNvSpPr/>
          <p:nvPr/>
        </p:nvSpPr>
        <p:spPr>
          <a:xfrm>
            <a:off x="777240" y="2103120"/>
            <a:ext cx="2194560" cy="411480"/>
          </a:xfrm>
          <a:prstGeom prst="roundRect">
            <a:avLst>
              <a:gd name="adj" fmla="val 22222"/>
            </a:avLst>
          </a:prstGeom>
          <a:solidFill>
            <a:schemeClr val="accent2"/>
          </a:solidFill>
          <a:ln/>
        </p:spPr>
      </p:sp>
      <p:sp>
        <p:nvSpPr>
          <p:cNvPr id="7" name="Texte redirection 1"/>
          <p:cNvSpPr txBox="1"/>
          <p:nvPr/>
        </p:nvSpPr>
        <p:spPr>
          <a:xfrm>
            <a:off x="777240" y="2103120"/>
            <a:ext cx="2194560" cy="411480"/>
          </a:xfrm>
          <a:prstGeom prst="rect">
            <a:avLst/>
          </a:prstGeom>
          <a:noFill/>
          <a:ln/>
        </p:spPr>
        <p:txBody>
          <a:bodyPr wrap="square" lIns="0" tIns="0" rIns="0" bIns="0" rtlCol="0" anchor="ctr"/>
          <a:lstStyle/>
          <a:p>
            <a:pPr algn="ctr" indent="0" marL="0">
              <a:buNone/>
            </a:pPr>
            <a:r>
              <a:rPr lang="en-US" sz="1200" b="1" dirty="0">
                <a:solidFill>
                  <a:schemeClr val="tx1"/>
                </a:solidFill>
              </a:rPr>
              <a:t>SSH 2222 → web:22</a:t>
            </a:r>
            <a:endParaRPr lang="en-US" sz="1200" dirty="0"/>
          </a:p>
        </p:txBody>
      </p:sp>
      <p:sp>
        <p:nvSpPr>
          <p:cNvPr id="8" name="Redirection 2"/>
          <p:cNvSpPr/>
          <p:nvPr/>
        </p:nvSpPr>
        <p:spPr>
          <a:xfrm>
            <a:off x="3154680" y="2103120"/>
            <a:ext cx="2194560" cy="411480"/>
          </a:xfrm>
          <a:prstGeom prst="roundRect">
            <a:avLst>
              <a:gd name="adj" fmla="val 22222"/>
            </a:avLst>
          </a:prstGeom>
          <a:solidFill>
            <a:schemeClr val="accent2"/>
          </a:solidFill>
          <a:ln/>
        </p:spPr>
      </p:sp>
      <p:sp>
        <p:nvSpPr>
          <p:cNvPr id="9" name="Texte redirection 2"/>
          <p:cNvSpPr txBox="1"/>
          <p:nvPr/>
        </p:nvSpPr>
        <p:spPr>
          <a:xfrm>
            <a:off x="3154680" y="2103120"/>
            <a:ext cx="2194560" cy="411480"/>
          </a:xfrm>
          <a:prstGeom prst="rect">
            <a:avLst/>
          </a:prstGeom>
          <a:noFill/>
          <a:ln/>
        </p:spPr>
        <p:txBody>
          <a:bodyPr wrap="square" lIns="0" tIns="0" rIns="0" bIns="0" rtlCol="0" anchor="ctr"/>
          <a:lstStyle/>
          <a:p>
            <a:pPr algn="ctr" indent="0" marL="0">
              <a:buNone/>
            </a:pPr>
            <a:r>
              <a:rPr lang="en-US" sz="1200" b="1" dirty="0">
                <a:solidFill>
                  <a:schemeClr val="tx1"/>
                </a:solidFill>
              </a:rPr>
              <a:t>SSH 2223 → client:22</a:t>
            </a:r>
            <a:endParaRPr lang="en-US" sz="1200" dirty="0"/>
          </a:p>
        </p:txBody>
      </p:sp>
      <p:sp>
        <p:nvSpPr>
          <p:cNvPr id="10" name="Redirection 3"/>
          <p:cNvSpPr/>
          <p:nvPr/>
        </p:nvSpPr>
        <p:spPr>
          <a:xfrm>
            <a:off x="5532120" y="2103120"/>
            <a:ext cx="2194560" cy="411480"/>
          </a:xfrm>
          <a:prstGeom prst="roundRect">
            <a:avLst>
              <a:gd name="adj" fmla="val 22222"/>
            </a:avLst>
          </a:prstGeom>
          <a:solidFill>
            <a:schemeClr val="accent2"/>
          </a:solidFill>
          <a:ln/>
        </p:spPr>
      </p:sp>
      <p:sp>
        <p:nvSpPr>
          <p:cNvPr id="11" name="Texte redirection 3"/>
          <p:cNvSpPr txBox="1"/>
          <p:nvPr/>
        </p:nvSpPr>
        <p:spPr>
          <a:xfrm>
            <a:off x="5532120" y="2103120"/>
            <a:ext cx="2194560" cy="411480"/>
          </a:xfrm>
          <a:prstGeom prst="rect">
            <a:avLst/>
          </a:prstGeom>
          <a:noFill/>
          <a:ln/>
        </p:spPr>
        <p:txBody>
          <a:bodyPr wrap="square" lIns="0" tIns="0" rIns="0" bIns="0" rtlCol="0" anchor="ctr"/>
          <a:lstStyle/>
          <a:p>
            <a:pPr algn="ctr" indent="0" marL="0">
              <a:buNone/>
            </a:pPr>
            <a:r>
              <a:rPr lang="en-US" sz="1200" b="1" dirty="0">
                <a:solidFill>
                  <a:schemeClr val="tx1"/>
                </a:solidFill>
              </a:rPr>
              <a:t>HTTP 8080 → web:80</a:t>
            </a:r>
            <a:endParaRPr lang="en-US" sz="1200" dirty="0"/>
          </a:p>
        </p:txBody>
      </p:sp>
      <p:sp>
        <p:nvSpPr>
          <p:cNvPr id="12" name="Réseau NAT"/>
          <p:cNvSpPr/>
          <p:nvPr/>
        </p:nvSpPr>
        <p:spPr>
          <a:xfrm>
            <a:off x="777240" y="2788920"/>
            <a:ext cx="6949440" cy="3154680"/>
          </a:xfrm>
          <a:prstGeom prst="roundRect">
            <a:avLst>
              <a:gd name="adj" fmla="val 4348"/>
            </a:avLst>
          </a:prstGeom>
          <a:solidFill>
            <a:schemeClr val="bg1"/>
          </a:solidFill>
          <a:ln w="25400">
            <a:solidFill>
              <a:schemeClr val="accent1"/>
            </a:solidFill>
            <a:prstDash val="dash"/>
          </a:ln>
        </p:spPr>
      </p:sp>
      <p:sp>
        <p:nvSpPr>
          <p:cNvPr id="13" name="Titre réseau"/>
          <p:cNvSpPr txBox="1"/>
          <p:nvPr/>
        </p:nvSpPr>
        <p:spPr>
          <a:xfrm>
            <a:off x="1005840" y="2880360"/>
            <a:ext cx="6400800" cy="320040"/>
          </a:xfrm>
          <a:prstGeom prst="rect">
            <a:avLst/>
          </a:prstGeom>
          <a:noFill/>
          <a:ln/>
        </p:spPr>
        <p:txBody>
          <a:bodyPr wrap="square" lIns="0" tIns="0" rIns="0" bIns="0" rtlCol="0" anchor="t"/>
          <a:lstStyle/>
          <a:p>
            <a:pPr indent="0" marL="0">
              <a:buNone/>
            </a:pPr>
            <a:r>
              <a:rPr lang="en-US" sz="1400" b="1" dirty="0">
                <a:solidFill>
                  <a:schemeClr val="accent1"/>
                </a:solidFill>
              </a:rPr>
              <a:t>Réseau NAT « tp-cloud » · 10.10.0.0/24</a:t>
            </a:r>
            <a:endParaRPr lang="en-US" sz="1400" dirty="0"/>
          </a:p>
        </p:txBody>
      </p:sp>
      <p:sp>
        <p:nvSpPr>
          <p:cNvPr id="14" name="Lien réseau"/>
          <p:cNvSpPr/>
          <p:nvPr/>
        </p:nvSpPr>
        <p:spPr>
          <a:xfrm>
            <a:off x="1371600" y="4572000"/>
            <a:ext cx="6035040" cy="0"/>
          </a:xfrm>
          <a:prstGeom prst="line">
            <a:avLst/>
          </a:prstGeom>
          <a:noFill/>
          <a:ln w="38100">
            <a:solidFill>
              <a:schemeClr val="accent1"/>
            </a:solidFill>
            <a:prstDash val="solid"/>
          </a:ln>
        </p:spPr>
      </p:sp>
      <p:sp>
        <p:nvSpPr>
          <p:cNvPr id="15" name="VM web"/>
          <p:cNvSpPr/>
          <p:nvPr/>
        </p:nvSpPr>
        <p:spPr>
          <a:xfrm>
            <a:off x="1005840" y="3886200"/>
            <a:ext cx="1920240" cy="1417320"/>
          </a:xfrm>
          <a:prstGeom prst="roundRect">
            <a:avLst>
              <a:gd name="adj" fmla="val 7742"/>
            </a:avLst>
          </a:prstGeom>
          <a:solidFill>
            <a:schemeClr val="accent1"/>
          </a:solidFill>
          <a:ln/>
        </p:spPr>
      </p:sp>
      <p:sp>
        <p:nvSpPr>
          <p:cNvPr id="16" name="VM web texte"/>
          <p:cNvSpPr txBox="1"/>
          <p:nvPr/>
        </p:nvSpPr>
        <p:spPr>
          <a:xfrm>
            <a:off x="1005840" y="3886200"/>
            <a:ext cx="1920240" cy="1417320"/>
          </a:xfrm>
          <a:prstGeom prst="rect">
            <a:avLst/>
          </a:prstGeom>
          <a:noFill/>
          <a:ln/>
        </p:spPr>
        <p:txBody>
          <a:bodyPr wrap="square" lIns="0" tIns="0" rIns="0" bIns="0" rtlCol="0" anchor="ctr"/>
          <a:lstStyle/>
          <a:p>
            <a:pPr algn="ctr" indent="0" marL="0">
              <a:buNone/>
            </a:pPr>
            <a:r>
              <a:rPr lang="en-US" sz="1400" b="1" dirty="0">
                <a:solidFill>
                  <a:schemeClr val="bg1"/>
                </a:solidFill>
              </a:rPr>
              <a:t>web</a:t>
            </a:r>
            <a:endParaRPr lang="en-US" sz="1400" dirty="0"/>
          </a:p>
          <a:p>
            <a:pPr algn="ctr" indent="0" marL="0">
              <a:buNone/>
            </a:pPr>
            <a:r>
              <a:rPr lang="en-US" sz="1400" b="1" dirty="0">
                <a:solidFill>
                  <a:schemeClr val="bg1"/>
                </a:solidFill>
              </a:rPr>
              <a:t>10.10.0.10</a:t>
            </a:r>
            <a:endParaRPr lang="en-US" sz="1400" dirty="0"/>
          </a:p>
          <a:p>
            <a:pPr algn="ctr" indent="0" marL="0">
              <a:buNone/>
            </a:pPr>
            <a:r>
              <a:rPr lang="en-US" sz="1400" b="1" dirty="0">
                <a:solidFill>
                  <a:schemeClr val="bg1"/>
                </a:solidFill>
              </a:rPr>
              <a:t>Nginx · ufw</a:t>
            </a:r>
            <a:endParaRPr lang="en-US" sz="1400" dirty="0"/>
          </a:p>
        </p:txBody>
      </p:sp>
      <p:sp>
        <p:nvSpPr>
          <p:cNvPr id="17" name="VM client"/>
          <p:cNvSpPr/>
          <p:nvPr/>
        </p:nvSpPr>
        <p:spPr>
          <a:xfrm>
            <a:off x="3291840" y="3886200"/>
            <a:ext cx="1920240" cy="1417320"/>
          </a:xfrm>
          <a:prstGeom prst="roundRect">
            <a:avLst>
              <a:gd name="adj" fmla="val 7742"/>
            </a:avLst>
          </a:prstGeom>
          <a:solidFill>
            <a:schemeClr val="accent1"/>
          </a:solidFill>
          <a:ln/>
        </p:spPr>
      </p:sp>
      <p:sp>
        <p:nvSpPr>
          <p:cNvPr id="18" name="VM client texte"/>
          <p:cNvSpPr txBox="1"/>
          <p:nvPr/>
        </p:nvSpPr>
        <p:spPr>
          <a:xfrm>
            <a:off x="3291840" y="3886200"/>
            <a:ext cx="1920240" cy="1417320"/>
          </a:xfrm>
          <a:prstGeom prst="rect">
            <a:avLst/>
          </a:prstGeom>
          <a:noFill/>
          <a:ln/>
        </p:spPr>
        <p:txBody>
          <a:bodyPr wrap="square" lIns="0" tIns="0" rIns="0" bIns="0" rtlCol="0" anchor="ctr"/>
          <a:lstStyle/>
          <a:p>
            <a:pPr algn="ctr" indent="0" marL="0">
              <a:buNone/>
            </a:pPr>
            <a:r>
              <a:rPr lang="en-US" sz="1400" b="1" dirty="0">
                <a:solidFill>
                  <a:schemeClr val="bg1"/>
                </a:solidFill>
              </a:rPr>
              <a:t>client</a:t>
            </a:r>
            <a:endParaRPr lang="en-US" sz="1400" dirty="0"/>
          </a:p>
          <a:p>
            <a:pPr algn="ctr" indent="0" marL="0">
              <a:buNone/>
            </a:pPr>
            <a:r>
              <a:rPr lang="en-US" sz="1400" b="1" dirty="0">
                <a:solidFill>
                  <a:schemeClr val="bg1"/>
                </a:solidFill>
              </a:rPr>
              <a:t>10.10.0.20</a:t>
            </a:r>
            <a:endParaRPr lang="en-US" sz="1400" dirty="0"/>
          </a:p>
          <a:p>
            <a:pPr algn="ctr" indent="0" marL="0">
              <a:buNone/>
            </a:pPr>
            <a:r>
              <a:rPr lang="en-US" sz="1400" b="1" dirty="0">
                <a:solidFill>
                  <a:schemeClr val="bg1"/>
                </a:solidFill>
              </a:rPr>
              <a:t>ping · curl</a:t>
            </a:r>
            <a:endParaRPr lang="en-US" sz="1400" dirty="0"/>
          </a:p>
        </p:txBody>
      </p:sp>
      <p:sp>
        <p:nvSpPr>
          <p:cNvPr id="19" name="Routeur NAT"/>
          <p:cNvSpPr/>
          <p:nvPr/>
        </p:nvSpPr>
        <p:spPr>
          <a:xfrm>
            <a:off x="5577840" y="3886200"/>
            <a:ext cx="1920240" cy="1417320"/>
          </a:xfrm>
          <a:prstGeom prst="roundRect">
            <a:avLst>
              <a:gd name="adj" fmla="val 7742"/>
            </a:avLst>
          </a:prstGeom>
          <a:solidFill>
            <a:schemeClr val="accent5"/>
          </a:solidFill>
          <a:ln/>
        </p:spPr>
      </p:sp>
      <p:sp>
        <p:nvSpPr>
          <p:cNvPr id="20" name="Routeur NAT texte"/>
          <p:cNvSpPr txBox="1"/>
          <p:nvPr/>
        </p:nvSpPr>
        <p:spPr>
          <a:xfrm>
            <a:off x="5577840" y="3886200"/>
            <a:ext cx="1920240" cy="1417320"/>
          </a:xfrm>
          <a:prstGeom prst="rect">
            <a:avLst/>
          </a:prstGeom>
          <a:noFill/>
          <a:ln/>
        </p:spPr>
        <p:txBody>
          <a:bodyPr wrap="square" lIns="0" tIns="0" rIns="0" bIns="0" rtlCol="0" anchor="ctr"/>
          <a:lstStyle/>
          <a:p>
            <a:pPr algn="ctr" indent="0" marL="0">
              <a:buNone/>
            </a:pPr>
            <a:r>
              <a:rPr lang="en-US" sz="1400" b="1" dirty="0">
                <a:solidFill>
                  <a:schemeClr val="bg1"/>
                </a:solidFill>
              </a:rPr>
              <a:t>Routeur NAT</a:t>
            </a:r>
            <a:endParaRPr lang="en-US" sz="1400" dirty="0"/>
          </a:p>
          <a:p>
            <a:pPr algn="ctr" indent="0" marL="0">
              <a:buNone/>
            </a:pPr>
            <a:r>
              <a:rPr lang="en-US" sz="1400" b="1" dirty="0">
                <a:solidFill>
                  <a:schemeClr val="bg1"/>
                </a:solidFill>
              </a:rPr>
              <a:t>10.10.0.1</a:t>
            </a:r>
            <a:endParaRPr lang="en-US" sz="1400" dirty="0"/>
          </a:p>
          <a:p>
            <a:pPr algn="ctr" indent="0" marL="0">
              <a:buNone/>
            </a:pPr>
            <a:r>
              <a:rPr lang="en-US" sz="1400" b="1" dirty="0">
                <a:solidFill>
                  <a:schemeClr val="bg1"/>
                </a:solidFill>
              </a:rPr>
              <a:t>Passerelle · DNS</a:t>
            </a:r>
            <a:endParaRPr lang="en-US" sz="1400" dirty="0"/>
          </a:p>
        </p:txBody>
      </p:sp>
      <p:sp>
        <p:nvSpPr>
          <p:cNvPr id="21" name="Équivalence 1"/>
          <p:cNvSpPr/>
          <p:nvPr/>
        </p:nvSpPr>
        <p:spPr>
          <a:xfrm>
            <a:off x="8321040" y="1508760"/>
            <a:ext cx="3291840" cy="1417320"/>
          </a:xfrm>
          <a:prstGeom prst="roundRect">
            <a:avLst>
              <a:gd name="adj" fmla="val 7742"/>
            </a:avLst>
          </a:prstGeom>
          <a:solidFill>
            <a:schemeClr val="bg2"/>
          </a:solidFill>
          <a:ln/>
        </p:spPr>
      </p:sp>
      <p:sp>
        <p:nvSpPr>
          <p:cNvPr id="22" name="Étiquette cloud 1"/>
          <p:cNvSpPr txBox="1"/>
          <p:nvPr/>
        </p:nvSpPr>
        <p:spPr>
          <a:xfrm>
            <a:off x="8549640" y="1645920"/>
            <a:ext cx="2834640" cy="228600"/>
          </a:xfrm>
          <a:prstGeom prst="rect">
            <a:avLst/>
          </a:prstGeom>
          <a:noFill/>
          <a:ln/>
        </p:spPr>
        <p:txBody>
          <a:bodyPr wrap="square" lIns="0" tIns="0" rIns="0" bIns="0" rtlCol="0" anchor="t"/>
          <a:lstStyle/>
          <a:p>
            <a:pPr indent="0" marL="0">
              <a:buNone/>
            </a:pPr>
            <a:r>
              <a:rPr lang="en-US" sz="1000" b="1" spc="100" kern="0" dirty="0">
                <a:solidFill>
                  <a:schemeClr val="accent5"/>
                </a:solidFill>
              </a:rPr>
              <a:t>DANS LE CLOUD</a:t>
            </a:r>
            <a:endParaRPr lang="en-US" sz="1000" dirty="0"/>
          </a:p>
        </p:txBody>
      </p:sp>
      <p:sp>
        <p:nvSpPr>
          <p:cNvPr id="23" name="Concept cloud 1"/>
          <p:cNvSpPr txBox="1"/>
          <p:nvPr/>
        </p:nvSpPr>
        <p:spPr>
          <a:xfrm>
            <a:off x="8549640" y="1874520"/>
            <a:ext cx="2834640" cy="365760"/>
          </a:xfrm>
          <a:prstGeom prst="rect">
            <a:avLst/>
          </a:prstGeom>
          <a:noFill/>
          <a:ln/>
        </p:spPr>
        <p:txBody>
          <a:bodyPr wrap="square" lIns="0" tIns="0" rIns="0" bIns="0" rtlCol="0" anchor="t"/>
          <a:lstStyle/>
          <a:p>
            <a:pPr indent="0" marL="0">
              <a:buNone/>
            </a:pPr>
            <a:r>
              <a:rPr lang="en-US" sz="1700" b="1" dirty="0">
                <a:solidFill>
                  <a:schemeClr val="tx2"/>
                </a:solidFill>
              </a:rPr>
              <a:t>Image (AMI)</a:t>
            </a:r>
            <a:endParaRPr lang="en-US" sz="1700" dirty="0"/>
          </a:p>
        </p:txBody>
      </p:sp>
      <p:sp>
        <p:nvSpPr>
          <p:cNvPr id="24" name="Équivalent TP 1"/>
          <p:cNvSpPr txBox="1"/>
          <p:nvPr/>
        </p:nvSpPr>
        <p:spPr>
          <a:xfrm>
            <a:off x="8549640" y="2331720"/>
            <a:ext cx="2834640" cy="365760"/>
          </a:xfrm>
          <a:prstGeom prst="rect">
            <a:avLst/>
          </a:prstGeom>
          <a:noFill/>
          <a:ln/>
        </p:spPr>
        <p:txBody>
          <a:bodyPr wrap="square" lIns="0" tIns="0" rIns="0" bIns="0" rtlCol="0" anchor="t"/>
          <a:lstStyle/>
          <a:p>
            <a:pPr indent="0" marL="0">
              <a:buNone/>
            </a:pPr>
            <a:r>
              <a:rPr lang="en-US" sz="1600" b="1" dirty="0">
                <a:solidFill>
                  <a:schemeClr val="accent1"/>
                </a:solidFill>
              </a:rPr>
              <a:t>→ VM ubuntu-srv</a:t>
            </a:r>
            <a:endParaRPr lang="en-US" sz="1600" dirty="0"/>
          </a:p>
        </p:txBody>
      </p:sp>
      <p:sp>
        <p:nvSpPr>
          <p:cNvPr id="25" name="Équivalence 2"/>
          <p:cNvSpPr/>
          <p:nvPr/>
        </p:nvSpPr>
        <p:spPr>
          <a:xfrm>
            <a:off x="8321040" y="3154680"/>
            <a:ext cx="3291840" cy="1417320"/>
          </a:xfrm>
          <a:prstGeom prst="roundRect">
            <a:avLst>
              <a:gd name="adj" fmla="val 7742"/>
            </a:avLst>
          </a:prstGeom>
          <a:solidFill>
            <a:schemeClr val="bg2"/>
          </a:solidFill>
          <a:ln/>
        </p:spPr>
      </p:sp>
      <p:sp>
        <p:nvSpPr>
          <p:cNvPr id="26" name="Étiquette cloud 2"/>
          <p:cNvSpPr txBox="1"/>
          <p:nvPr/>
        </p:nvSpPr>
        <p:spPr>
          <a:xfrm>
            <a:off x="8549640" y="3291840"/>
            <a:ext cx="2834640" cy="228600"/>
          </a:xfrm>
          <a:prstGeom prst="rect">
            <a:avLst/>
          </a:prstGeom>
          <a:noFill/>
          <a:ln/>
        </p:spPr>
        <p:txBody>
          <a:bodyPr wrap="square" lIns="0" tIns="0" rIns="0" bIns="0" rtlCol="0" anchor="t"/>
          <a:lstStyle/>
          <a:p>
            <a:pPr indent="0" marL="0">
              <a:buNone/>
            </a:pPr>
            <a:r>
              <a:rPr lang="en-US" sz="1000" b="1" spc="100" kern="0" dirty="0">
                <a:solidFill>
                  <a:schemeClr val="accent5"/>
                </a:solidFill>
              </a:rPr>
              <a:t>DANS LE CLOUD</a:t>
            </a:r>
            <a:endParaRPr lang="en-US" sz="1000" dirty="0"/>
          </a:p>
        </p:txBody>
      </p:sp>
      <p:sp>
        <p:nvSpPr>
          <p:cNvPr id="27" name="Concept cloud 2"/>
          <p:cNvSpPr txBox="1"/>
          <p:nvPr/>
        </p:nvSpPr>
        <p:spPr>
          <a:xfrm>
            <a:off x="8549640" y="3520440"/>
            <a:ext cx="2834640" cy="365760"/>
          </a:xfrm>
          <a:prstGeom prst="rect">
            <a:avLst/>
          </a:prstGeom>
          <a:noFill/>
          <a:ln/>
        </p:spPr>
        <p:txBody>
          <a:bodyPr wrap="square" lIns="0" tIns="0" rIns="0" bIns="0" rtlCol="0" anchor="t"/>
          <a:lstStyle/>
          <a:p>
            <a:pPr indent="0" marL="0">
              <a:buNone/>
            </a:pPr>
            <a:r>
              <a:rPr lang="en-US" sz="1700" b="1" dirty="0">
                <a:solidFill>
                  <a:schemeClr val="tx2"/>
                </a:solidFill>
              </a:rPr>
              <a:t>Sous-réseau privé (VPC)</a:t>
            </a:r>
            <a:endParaRPr lang="en-US" sz="1700" dirty="0"/>
          </a:p>
        </p:txBody>
      </p:sp>
      <p:sp>
        <p:nvSpPr>
          <p:cNvPr id="28" name="Équivalent TP 2"/>
          <p:cNvSpPr txBox="1"/>
          <p:nvPr/>
        </p:nvSpPr>
        <p:spPr>
          <a:xfrm>
            <a:off x="8549640" y="3977640"/>
            <a:ext cx="2834640" cy="365760"/>
          </a:xfrm>
          <a:prstGeom prst="rect">
            <a:avLst/>
          </a:prstGeom>
          <a:noFill/>
          <a:ln/>
        </p:spPr>
        <p:txBody>
          <a:bodyPr wrap="square" lIns="0" tIns="0" rIns="0" bIns="0" rtlCol="0" anchor="t"/>
          <a:lstStyle/>
          <a:p>
            <a:pPr indent="0" marL="0">
              <a:buNone/>
            </a:pPr>
            <a:r>
              <a:rPr lang="en-US" sz="1600" b="1" dirty="0">
                <a:solidFill>
                  <a:schemeClr val="accent1"/>
                </a:solidFill>
              </a:rPr>
              <a:t>→ Réseau NAT tp-cloud</a:t>
            </a:r>
            <a:endParaRPr lang="en-US" sz="1600" dirty="0"/>
          </a:p>
        </p:txBody>
      </p:sp>
      <p:sp>
        <p:nvSpPr>
          <p:cNvPr id="29" name="Équivalence 3"/>
          <p:cNvSpPr/>
          <p:nvPr/>
        </p:nvSpPr>
        <p:spPr>
          <a:xfrm>
            <a:off x="8321040" y="4800600"/>
            <a:ext cx="3291840" cy="1417320"/>
          </a:xfrm>
          <a:prstGeom prst="roundRect">
            <a:avLst>
              <a:gd name="adj" fmla="val 7742"/>
            </a:avLst>
          </a:prstGeom>
          <a:solidFill>
            <a:schemeClr val="bg2"/>
          </a:solidFill>
          <a:ln/>
        </p:spPr>
      </p:sp>
      <p:sp>
        <p:nvSpPr>
          <p:cNvPr id="30" name="Étiquette cloud 3"/>
          <p:cNvSpPr txBox="1"/>
          <p:nvPr/>
        </p:nvSpPr>
        <p:spPr>
          <a:xfrm>
            <a:off x="8549640" y="4937760"/>
            <a:ext cx="2834640" cy="228600"/>
          </a:xfrm>
          <a:prstGeom prst="rect">
            <a:avLst/>
          </a:prstGeom>
          <a:noFill/>
          <a:ln/>
        </p:spPr>
        <p:txBody>
          <a:bodyPr wrap="square" lIns="0" tIns="0" rIns="0" bIns="0" rtlCol="0" anchor="t"/>
          <a:lstStyle/>
          <a:p>
            <a:pPr indent="0" marL="0">
              <a:buNone/>
            </a:pPr>
            <a:r>
              <a:rPr lang="en-US" sz="1000" b="1" spc="100" kern="0" dirty="0">
                <a:solidFill>
                  <a:schemeClr val="accent5"/>
                </a:solidFill>
              </a:rPr>
              <a:t>DANS LE CLOUD</a:t>
            </a:r>
            <a:endParaRPr lang="en-US" sz="1000" dirty="0"/>
          </a:p>
        </p:txBody>
      </p:sp>
      <p:sp>
        <p:nvSpPr>
          <p:cNvPr id="31" name="Concept cloud 3"/>
          <p:cNvSpPr txBox="1"/>
          <p:nvPr/>
        </p:nvSpPr>
        <p:spPr>
          <a:xfrm>
            <a:off x="8549640" y="5166360"/>
            <a:ext cx="2834640" cy="365760"/>
          </a:xfrm>
          <a:prstGeom prst="rect">
            <a:avLst/>
          </a:prstGeom>
          <a:noFill/>
          <a:ln/>
        </p:spPr>
        <p:txBody>
          <a:bodyPr wrap="square" lIns="0" tIns="0" rIns="0" bIns="0" rtlCol="0" anchor="t"/>
          <a:lstStyle/>
          <a:p>
            <a:pPr indent="0" marL="0">
              <a:buNone/>
            </a:pPr>
            <a:r>
              <a:rPr lang="en-US" sz="1700" b="1" dirty="0">
                <a:solidFill>
                  <a:schemeClr val="tx2"/>
                </a:solidFill>
              </a:rPr>
              <a:t>Groupe de sécurité</a:t>
            </a:r>
            <a:endParaRPr lang="en-US" sz="1700" dirty="0"/>
          </a:p>
        </p:txBody>
      </p:sp>
      <p:sp>
        <p:nvSpPr>
          <p:cNvPr id="32" name="Équivalent TP 3"/>
          <p:cNvSpPr txBox="1"/>
          <p:nvPr/>
        </p:nvSpPr>
        <p:spPr>
          <a:xfrm>
            <a:off x="8549640" y="5623560"/>
            <a:ext cx="2834640" cy="365760"/>
          </a:xfrm>
          <a:prstGeom prst="rect">
            <a:avLst/>
          </a:prstGeom>
          <a:noFill/>
          <a:ln/>
        </p:spPr>
        <p:txBody>
          <a:bodyPr wrap="square" lIns="0" tIns="0" rIns="0" bIns="0" rtlCol="0" anchor="t"/>
          <a:lstStyle/>
          <a:p>
            <a:pPr indent="0" marL="0">
              <a:buNone/>
            </a:pPr>
            <a:r>
              <a:rPr lang="en-US" sz="1600" b="1" dirty="0">
                <a:solidFill>
                  <a:schemeClr val="accent1"/>
                </a:solidFill>
              </a:rPr>
              <a:t>→ Pare-feu ufw</a:t>
            </a:r>
            <a:endParaRPr lang="en-US" sz="16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C6B7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Repère de partie"/>
          <p:cNvSpPr txBox="1"/>
          <p:nvPr/>
        </p:nvSpPr>
        <p:spPr>
          <a:xfrm>
            <a:off x="548640" y="274320"/>
            <a:ext cx="8229600" cy="274320"/>
          </a:xfrm>
          <a:prstGeom prst="rect">
            <a:avLst/>
          </a:prstGeom>
          <a:noFill/>
          <a:ln/>
        </p:spPr>
        <p:txBody>
          <a:bodyPr wrap="square" lIns="0" tIns="0" rIns="0" bIns="0" rtlCol="0" anchor="t"/>
          <a:lstStyle/>
          <a:p>
            <a:pPr indent="0" marL="0">
              <a:buNone/>
            </a:pPr>
            <a:r>
              <a:rPr lang="en-US" sz="1200" b="1" spc="200" kern="0" dirty="0">
                <a:solidFill>
                  <a:schemeClr val="accent1"/>
                </a:solidFill>
              </a:rPr>
              <a:t>PARTIE 1 · CLONAGE</a:t>
            </a:r>
            <a:endParaRPr lang="en-US" sz="1200" dirty="0"/>
          </a:p>
        </p:txBody>
      </p:sp>
      <p:sp>
        <p:nvSpPr>
          <p:cNvPr id="3" name="Text 0"/>
          <p:cNvSpPr/>
          <p:nvPr>
            <p:ph idx="100" type="title" hasCustomPrompt="1"/>
          </p:nvPr>
        </p:nvSpPr>
        <p:spPr>
          <a:xfrm>
            <a:off x="548640" y="566928"/>
            <a:ext cx="11064240" cy="777240"/>
          </a:xfrm>
          <a:prstGeom prst="rect">
            <a:avLst/>
          </a:prstGeom>
          <a:noFill/>
          <a:ln/>
        </p:spPr>
        <p:txBody>
          <a:bodyPr wrap="square" lIns="0" tIns="0" rIns="0" bIns="0" rtlCol="0" anchor="ctr"/>
          <a:lstStyle/>
          <a:p>
            <a:pPr algn="l" indent="0" marL="0">
              <a:buNone/>
            </a:pPr>
            <a:r>
              <a:rPr lang="en-US" sz="3400" b="1" dirty="0">
                <a:solidFill>
                  <a:schemeClr val="tx2"/>
                </a:solidFill>
              </a:rPr>
              <a:t>Cloner une image en 49,5 secondes</a:t>
            </a:r>
            <a:endParaRPr lang="en-US" sz="3400" dirty="0"/>
          </a:p>
        </p:txBody>
      </p:sp>
      <p:sp>
        <p:nvSpPr>
          <p:cNvPr id="4" name="Chiffre 49,5 s"/>
          <p:cNvSpPr txBox="1"/>
          <p:nvPr/>
        </p:nvSpPr>
        <p:spPr>
          <a:xfrm>
            <a:off x="548640" y="1737360"/>
            <a:ext cx="4754880" cy="868680"/>
          </a:xfrm>
          <a:prstGeom prst="rect">
            <a:avLst/>
          </a:prstGeom>
          <a:noFill/>
          <a:ln/>
        </p:spPr>
        <p:txBody>
          <a:bodyPr wrap="square" lIns="0" tIns="0" rIns="0" bIns="0" rtlCol="0" anchor="ctr"/>
          <a:lstStyle/>
          <a:p>
            <a:pPr indent="0" marL="0">
              <a:buNone/>
            </a:pPr>
            <a:r>
              <a:rPr lang="en-US" sz="5200" b="1" dirty="0">
                <a:solidFill>
                  <a:schemeClr val="accent1"/>
                </a:solidFill>
              </a:rPr>
              <a:t>49,5 s</a:t>
            </a:r>
            <a:endParaRPr lang="en-US" sz="5200" dirty="0"/>
          </a:p>
        </p:txBody>
      </p:sp>
      <p:sp>
        <p:nvSpPr>
          <p:cNvPr id="5" name="Légende 49,5 s"/>
          <p:cNvSpPr txBox="1"/>
          <p:nvPr/>
        </p:nvSpPr>
        <p:spPr>
          <a:xfrm>
            <a:off x="548640" y="2606040"/>
            <a:ext cx="4754880" cy="640080"/>
          </a:xfrm>
          <a:prstGeom prst="rect">
            <a:avLst/>
          </a:prstGeom>
          <a:noFill/>
          <a:ln/>
        </p:spPr>
        <p:txBody>
          <a:bodyPr wrap="square" lIns="0" tIns="0" rIns="0" bIns="0" rtlCol="0" anchor="t"/>
          <a:lstStyle/>
          <a:p>
            <a:pPr indent="0" marL="0">
              <a:buNone/>
            </a:pPr>
            <a:r>
              <a:rPr lang="en-US" sz="1600" dirty="0">
                <a:solidFill>
                  <a:schemeClr val="tx1"/>
                </a:solidFill>
              </a:rPr>
              <a:t>Clonage de web avec VBoxManage clonevm</a:t>
            </a:r>
            <a:endParaRPr lang="en-US" sz="1600" dirty="0"/>
          </a:p>
        </p:txBody>
      </p:sp>
      <p:sp>
        <p:nvSpPr>
          <p:cNvPr id="6" name="Chiffre ≈ 8 min"/>
          <p:cNvSpPr txBox="1"/>
          <p:nvPr/>
        </p:nvSpPr>
        <p:spPr>
          <a:xfrm>
            <a:off x="548640" y="3840480"/>
            <a:ext cx="4754880" cy="868680"/>
          </a:xfrm>
          <a:prstGeom prst="rect">
            <a:avLst/>
          </a:prstGeom>
          <a:noFill/>
          <a:ln/>
        </p:spPr>
        <p:txBody>
          <a:bodyPr wrap="square" lIns="0" tIns="0" rIns="0" bIns="0" rtlCol="0" anchor="ctr"/>
          <a:lstStyle/>
          <a:p>
            <a:pPr indent="0" marL="0">
              <a:buNone/>
            </a:pPr>
            <a:r>
              <a:rPr lang="en-US" sz="5200" b="1" dirty="0">
                <a:solidFill>
                  <a:schemeClr val="accent5"/>
                </a:solidFill>
              </a:rPr>
              <a:t>≈ 8 min</a:t>
            </a:r>
            <a:endParaRPr lang="en-US" sz="5200" dirty="0"/>
          </a:p>
        </p:txBody>
      </p:sp>
      <p:sp>
        <p:nvSpPr>
          <p:cNvPr id="7" name="Légende ≈ 8 min"/>
          <p:cNvSpPr txBox="1"/>
          <p:nvPr/>
        </p:nvSpPr>
        <p:spPr>
          <a:xfrm>
            <a:off x="548640" y="4709160"/>
            <a:ext cx="4754880" cy="640080"/>
          </a:xfrm>
          <a:prstGeom prst="rect">
            <a:avLst/>
          </a:prstGeom>
          <a:noFill/>
          <a:ln/>
        </p:spPr>
        <p:txBody>
          <a:bodyPr wrap="square" lIns="0" tIns="0" rIns="0" bIns="0" rtlCol="0" anchor="t"/>
          <a:lstStyle/>
          <a:p>
            <a:pPr indent="0" marL="0">
              <a:buNone/>
            </a:pPr>
            <a:r>
              <a:rPr lang="en-US" sz="1600" dirty="0">
                <a:solidFill>
                  <a:schemeClr val="tx1"/>
                </a:solidFill>
              </a:rPr>
              <a:t>Installation d’Ubuntu au TP précédent</a:t>
            </a:r>
            <a:endParaRPr lang="en-US" sz="1600" dirty="0"/>
          </a:p>
        </p:txBody>
      </p:sp>
      <p:sp>
        <p:nvSpPr>
          <p:cNvPr id="8" name="Comparaison serveur physique"/>
          <p:cNvSpPr txBox="1"/>
          <p:nvPr/>
        </p:nvSpPr>
        <p:spPr>
          <a:xfrm>
            <a:off x="548640" y="5669280"/>
            <a:ext cx="4937760" cy="365760"/>
          </a:xfrm>
          <a:prstGeom prst="rect">
            <a:avLst/>
          </a:prstGeom>
          <a:noFill/>
          <a:ln/>
        </p:spPr>
        <p:txBody>
          <a:bodyPr wrap="square" lIns="0" tIns="0" rIns="0" bIns="0" rtlCol="0" anchor="t"/>
          <a:lstStyle/>
          <a:p>
            <a:pPr indent="0" marL="0">
              <a:buNone/>
            </a:pPr>
            <a:r>
              <a:rPr lang="en-US" sz="1600" b="1" dirty="0">
                <a:solidFill>
                  <a:schemeClr val="accent4"/>
                </a:solidFill>
              </a:rPr>
              <a:t>Un serveur physique : plusieurs jours.</a:t>
            </a:r>
            <a:endParaRPr lang="en-US" sz="1600" dirty="0"/>
          </a:p>
        </p:txBody>
      </p:sp>
      <p:sp>
        <p:nvSpPr>
          <p:cNvPr id="9" name="Capture clonage (cadre)"/>
          <p:cNvSpPr/>
          <p:nvPr/>
        </p:nvSpPr>
        <p:spPr>
          <a:xfrm>
            <a:off x="5806440" y="1554480"/>
            <a:ext cx="5852160" cy="4324928"/>
          </a:xfrm>
          <a:prstGeom prst="rect">
            <a:avLst/>
          </a:prstGeom>
          <a:solidFill>
            <a:schemeClr val="bg1"/>
          </a:solidFill>
          <a:ln w="9525">
            <a:solidFill>
              <a:srgbClr val="8FB8C4"/>
            </a:solidFill>
            <a:prstDash val="solid"/>
          </a:ln>
          <a:effectLst>
            <a:outerShdw sx="100000" sy="100000" kx="0" ky="0" algn="bl" rotWithShape="0" blurRad="76200" dist="25400" dir="5400000">
              <a:srgbClr val="000000">
                <a:alpha val="18000"/>
              </a:srgbClr>
            </a:outerShdw>
          </a:effectLst>
        </p:spPr>
      </p:sp>
      <p:pic>
        <p:nvPicPr>
          <p:cNvPr id="10" name="Capture clonage" descr="Clonage chronométré de web : TotalSeconds 49,48">    </p:cNvPr>
          <p:cNvPicPr>
            <a:picLocks noChangeAspect="1"/>
          </p:cNvPicPr>
          <p:nvPr/>
        </p:nvPicPr>
        <p:blipFill>
          <a:blip r:embed="rId1"/>
          <a:stretch>
            <a:fillRect/>
          </a:stretch>
        </p:blipFill>
        <p:spPr>
          <a:xfrm>
            <a:off x="5852160" y="1600200"/>
            <a:ext cx="5760720" cy="4233488"/>
          </a:xfrm>
          <a:prstGeom prst="rect">
            <a:avLst/>
          </a:prstGeom>
        </p:spPr>
      </p:pic>
      <p:sp>
        <p:nvSpPr>
          <p:cNvPr id="11" name="Légende image"/>
          <p:cNvSpPr txBox="1"/>
          <p:nvPr/>
        </p:nvSpPr>
        <p:spPr>
          <a:xfrm>
            <a:off x="5852160" y="5970848"/>
            <a:ext cx="5760720" cy="274320"/>
          </a:xfrm>
          <a:prstGeom prst="rect">
            <a:avLst/>
          </a:prstGeom>
          <a:noFill/>
          <a:ln/>
        </p:spPr>
        <p:txBody>
          <a:bodyPr wrap="square" lIns="0" tIns="0" rIns="0" bIns="0" rtlCol="0" anchor="t"/>
          <a:lstStyle/>
          <a:p>
            <a:pPr indent="0" marL="0">
              <a:buNone/>
            </a:pPr>
            <a:r>
              <a:rPr lang="en-US" sz="1100" i="1" dirty="0">
                <a:solidFill>
                  <a:schemeClr val="accent5"/>
                </a:solidFill>
              </a:rPr>
              <a:t>Mesure avec Measure-Command : TotalSeconds = 49,4813741</a:t>
            </a:r>
            <a:endParaRPr lang="en-US" sz="11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C6B7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Repère de partie"/>
          <p:cNvSpPr txBox="1"/>
          <p:nvPr/>
        </p:nvSpPr>
        <p:spPr>
          <a:xfrm>
            <a:off x="548640" y="274320"/>
            <a:ext cx="8229600" cy="274320"/>
          </a:xfrm>
          <a:prstGeom prst="rect">
            <a:avLst/>
          </a:prstGeom>
          <a:noFill/>
          <a:ln/>
        </p:spPr>
        <p:txBody>
          <a:bodyPr wrap="square" lIns="0" tIns="0" rIns="0" bIns="0" rtlCol="0" anchor="t"/>
          <a:lstStyle/>
          <a:p>
            <a:pPr indent="0" marL="0">
              <a:buNone/>
            </a:pPr>
            <a:r>
              <a:rPr lang="en-US" sz="1200" b="1" spc="200" kern="0" dirty="0">
                <a:solidFill>
                  <a:schemeClr val="accent1"/>
                </a:solidFill>
              </a:rPr>
              <a:t>PARTIE 1 · RÉSEAU</a:t>
            </a:r>
            <a:endParaRPr lang="en-US" sz="1200" dirty="0"/>
          </a:p>
        </p:txBody>
      </p:sp>
      <p:sp>
        <p:nvSpPr>
          <p:cNvPr id="3" name="Text 0"/>
          <p:cNvSpPr/>
          <p:nvPr>
            <p:ph idx="100" type="title" hasCustomPrompt="1"/>
          </p:nvPr>
        </p:nvSpPr>
        <p:spPr>
          <a:xfrm>
            <a:off x="548640" y="566928"/>
            <a:ext cx="11064240" cy="777240"/>
          </a:xfrm>
          <a:prstGeom prst="rect">
            <a:avLst/>
          </a:prstGeom>
          <a:noFill/>
          <a:ln/>
        </p:spPr>
        <p:txBody>
          <a:bodyPr wrap="square" lIns="0" tIns="0" rIns="0" bIns="0" rtlCol="0" anchor="ctr"/>
          <a:lstStyle/>
          <a:p>
            <a:pPr algn="l" indent="0" marL="0">
              <a:buNone/>
            </a:pPr>
            <a:r>
              <a:rPr lang="en-US" sz="3400" b="1" dirty="0">
                <a:solidFill>
                  <a:schemeClr val="tx2"/>
                </a:solidFill>
              </a:rPr>
              <a:t>Un réseau NAT, c’est un sous-réseau privé</a:t>
            </a:r>
            <a:endParaRPr lang="en-US" sz="3400" dirty="0"/>
          </a:p>
        </p:txBody>
      </p:sp>
      <p:sp>
        <p:nvSpPr>
          <p:cNvPr id="4" name="Carte réseau"/>
          <p:cNvSpPr/>
          <p:nvPr/>
        </p:nvSpPr>
        <p:spPr>
          <a:xfrm>
            <a:off x="548640" y="1600200"/>
            <a:ext cx="4937760" cy="1325880"/>
          </a:xfrm>
          <a:prstGeom prst="roundRect">
            <a:avLst>
              <a:gd name="adj" fmla="val 8276"/>
            </a:avLst>
          </a:prstGeom>
          <a:solidFill>
            <a:schemeClr val="bg2"/>
          </a:solidFill>
          <a:ln/>
        </p:spPr>
      </p:sp>
      <p:sp>
        <p:nvSpPr>
          <p:cNvPr id="5" name="Carte réseau titre"/>
          <p:cNvSpPr txBox="1"/>
          <p:nvPr/>
        </p:nvSpPr>
        <p:spPr>
          <a:xfrm>
            <a:off x="777240" y="1737360"/>
            <a:ext cx="4480560" cy="365760"/>
          </a:xfrm>
          <a:prstGeom prst="rect">
            <a:avLst/>
          </a:prstGeom>
          <a:noFill/>
          <a:ln/>
        </p:spPr>
        <p:txBody>
          <a:bodyPr wrap="square" lIns="0" tIns="0" rIns="0" bIns="0" rtlCol="0" anchor="t"/>
          <a:lstStyle/>
          <a:p>
            <a:pPr indent="0" marL="0">
              <a:buNone/>
            </a:pPr>
            <a:r>
              <a:rPr lang="en-US" sz="1800" b="1" dirty="0">
                <a:solidFill>
                  <a:schemeClr val="accent1"/>
                </a:solidFill>
              </a:rPr>
              <a:t>10.10.0.0/24</a:t>
            </a:r>
            <a:endParaRPr lang="en-US" sz="1800" dirty="0"/>
          </a:p>
        </p:txBody>
      </p:sp>
      <p:sp>
        <p:nvSpPr>
          <p:cNvPr id="6" name="Carte réseau texte"/>
          <p:cNvSpPr txBox="1"/>
          <p:nvPr/>
        </p:nvSpPr>
        <p:spPr>
          <a:xfrm>
            <a:off x="777240" y="2148840"/>
            <a:ext cx="4480560" cy="640080"/>
          </a:xfrm>
          <a:prstGeom prst="rect">
            <a:avLst/>
          </a:prstGeom>
          <a:noFill/>
          <a:ln/>
        </p:spPr>
        <p:txBody>
          <a:bodyPr wrap="square" lIns="0" tIns="0" rIns="0" bIns="0" rtlCol="0" anchor="t"/>
          <a:lstStyle/>
          <a:p>
            <a:pPr indent="0" marL="0">
              <a:buNone/>
            </a:pPr>
            <a:r>
              <a:rPr lang="en-US" sz="1500" dirty="0">
                <a:solidFill>
                  <a:schemeClr val="tx1"/>
                </a:solidFill>
              </a:rPr>
              <a:t>Passerelle 10.10.0.1, DHCP désactivé : adresses fixes.</a:t>
            </a:r>
            <a:endParaRPr lang="en-US" sz="1500" dirty="0"/>
          </a:p>
        </p:txBody>
      </p:sp>
      <p:sp>
        <p:nvSpPr>
          <p:cNvPr id="7" name="Carte redirections"/>
          <p:cNvSpPr/>
          <p:nvPr/>
        </p:nvSpPr>
        <p:spPr>
          <a:xfrm>
            <a:off x="548640" y="3108960"/>
            <a:ext cx="4937760" cy="1600200"/>
          </a:xfrm>
          <a:prstGeom prst="roundRect">
            <a:avLst>
              <a:gd name="adj" fmla="val 6857"/>
            </a:avLst>
          </a:prstGeom>
          <a:solidFill>
            <a:schemeClr val="bg2"/>
          </a:solidFill>
          <a:ln/>
        </p:spPr>
      </p:sp>
      <p:sp>
        <p:nvSpPr>
          <p:cNvPr id="8" name="Carte redirections titre"/>
          <p:cNvSpPr txBox="1"/>
          <p:nvPr/>
        </p:nvSpPr>
        <p:spPr>
          <a:xfrm>
            <a:off x="777240" y="3246120"/>
            <a:ext cx="4480560" cy="365760"/>
          </a:xfrm>
          <a:prstGeom prst="rect">
            <a:avLst/>
          </a:prstGeom>
          <a:noFill/>
          <a:ln/>
        </p:spPr>
        <p:txBody>
          <a:bodyPr wrap="square" lIns="0" tIns="0" rIns="0" bIns="0" rtlCol="0" anchor="t"/>
          <a:lstStyle/>
          <a:p>
            <a:pPr indent="0" marL="0">
              <a:buNone/>
            </a:pPr>
            <a:r>
              <a:rPr lang="en-US" sz="1800" b="1" dirty="0">
                <a:solidFill>
                  <a:schemeClr val="accent1"/>
                </a:solidFill>
              </a:rPr>
              <a:t>3 redirections de port</a:t>
            </a:r>
            <a:endParaRPr lang="en-US" sz="1800" dirty="0"/>
          </a:p>
        </p:txBody>
      </p:sp>
      <p:sp>
        <p:nvSpPr>
          <p:cNvPr id="9" name="Carte redirections texte"/>
          <p:cNvSpPr txBox="1"/>
          <p:nvPr/>
        </p:nvSpPr>
        <p:spPr>
          <a:xfrm>
            <a:off x="777240" y="3657600"/>
            <a:ext cx="4480560" cy="914400"/>
          </a:xfrm>
          <a:prstGeom prst="rect">
            <a:avLst/>
          </a:prstGeom>
          <a:noFill/>
          <a:ln/>
        </p:spPr>
        <p:txBody>
          <a:bodyPr wrap="square" lIns="0" tIns="0" rIns="0" bIns="0" rtlCol="0" anchor="t"/>
          <a:lstStyle/>
          <a:p>
            <a:pPr indent="0" marL="0">
              <a:buNone/>
            </a:pPr>
            <a:r>
              <a:rPr lang="en-US" sz="1500" dirty="0">
                <a:solidFill>
                  <a:schemeClr val="tx1"/>
                </a:solidFill>
              </a:rPr>
              <a:t>2222 → web:22</a:t>
            </a:r>
            <a:endParaRPr lang="en-US" sz="1500" dirty="0"/>
          </a:p>
          <a:p>
            <a:pPr indent="0" marL="0">
              <a:buNone/>
            </a:pPr>
            <a:r>
              <a:rPr lang="en-US" sz="1500" dirty="0">
                <a:solidFill>
                  <a:schemeClr val="tx1"/>
                </a:solidFill>
              </a:rPr>
              <a:t>2223 → client:22</a:t>
            </a:r>
            <a:endParaRPr lang="en-US" sz="1500" dirty="0"/>
          </a:p>
          <a:p>
            <a:pPr indent="0" marL="0">
              <a:buNone/>
            </a:pPr>
            <a:r>
              <a:rPr lang="en-US" sz="1500" dirty="0">
                <a:solidFill>
                  <a:schemeClr val="tx1"/>
                </a:solidFill>
              </a:rPr>
              <a:t>8080 → web:80</a:t>
            </a:r>
            <a:endParaRPr lang="en-US" sz="1500" dirty="0"/>
          </a:p>
        </p:txBody>
      </p:sp>
      <p:sp>
        <p:nvSpPr>
          <p:cNvPr id="10" name="Carte configuration"/>
          <p:cNvSpPr/>
          <p:nvPr/>
        </p:nvSpPr>
        <p:spPr>
          <a:xfrm>
            <a:off x="548640" y="4892040"/>
            <a:ext cx="4937760" cy="1234440"/>
          </a:xfrm>
          <a:prstGeom prst="roundRect">
            <a:avLst>
              <a:gd name="adj" fmla="val 8889"/>
            </a:avLst>
          </a:prstGeom>
          <a:solidFill>
            <a:schemeClr val="bg2"/>
          </a:solidFill>
          <a:ln/>
        </p:spPr>
      </p:sp>
      <p:sp>
        <p:nvSpPr>
          <p:cNvPr id="11" name="Carte configuration titre"/>
          <p:cNvSpPr txBox="1"/>
          <p:nvPr/>
        </p:nvSpPr>
        <p:spPr>
          <a:xfrm>
            <a:off x="777240" y="5029200"/>
            <a:ext cx="4480560" cy="365760"/>
          </a:xfrm>
          <a:prstGeom prst="rect">
            <a:avLst/>
          </a:prstGeom>
          <a:noFill/>
          <a:ln/>
        </p:spPr>
        <p:txBody>
          <a:bodyPr wrap="square" lIns="0" tIns="0" rIns="0" bIns="0" rtlCol="0" anchor="t"/>
          <a:lstStyle/>
          <a:p>
            <a:pPr indent="0" marL="0">
              <a:buNone/>
            </a:pPr>
            <a:r>
              <a:rPr lang="en-US" sz="1800" b="1" dirty="0">
                <a:solidFill>
                  <a:schemeClr val="accent1"/>
                </a:solidFill>
              </a:rPr>
              <a:t>web : 1 vCPU · 1 Go</a:t>
            </a:r>
            <a:endParaRPr lang="en-US" sz="1800" dirty="0"/>
          </a:p>
        </p:txBody>
      </p:sp>
      <p:sp>
        <p:nvSpPr>
          <p:cNvPr id="12" name="Carte configuration texte"/>
          <p:cNvSpPr txBox="1"/>
          <p:nvPr/>
        </p:nvSpPr>
        <p:spPr>
          <a:xfrm>
            <a:off x="777240" y="5440680"/>
            <a:ext cx="4480560" cy="548640"/>
          </a:xfrm>
          <a:prstGeom prst="rect">
            <a:avLst/>
          </a:prstGeom>
          <a:noFill/>
          <a:ln/>
        </p:spPr>
        <p:txBody>
          <a:bodyPr wrap="square" lIns="0" tIns="0" rIns="0" bIns="0" rtlCol="0" anchor="t"/>
          <a:lstStyle/>
          <a:p>
            <a:pPr indent="0" marL="0">
              <a:buNone/>
            </a:pPr>
            <a:r>
              <a:rPr lang="en-US" sz="1500" dirty="0">
                <a:solidFill>
                  <a:schemeClr val="tx1"/>
                </a:solidFill>
              </a:rPr>
              <a:t>Carte reliée à « tp-cloud ».</a:t>
            </a:r>
            <a:endParaRPr lang="en-US" sz="1500" dirty="0"/>
          </a:p>
        </p:txBody>
      </p:sp>
      <p:sp>
        <p:nvSpPr>
          <p:cNvPr id="13" name="Capture réseau NAT (cadre)"/>
          <p:cNvSpPr/>
          <p:nvPr/>
        </p:nvSpPr>
        <p:spPr>
          <a:xfrm>
            <a:off x="5897880" y="1554480"/>
            <a:ext cx="5760720" cy="3209544"/>
          </a:xfrm>
          <a:prstGeom prst="rect">
            <a:avLst/>
          </a:prstGeom>
          <a:solidFill>
            <a:schemeClr val="bg1"/>
          </a:solidFill>
          <a:ln w="9525">
            <a:solidFill>
              <a:srgbClr val="8FB8C4"/>
            </a:solidFill>
            <a:prstDash val="solid"/>
          </a:ln>
          <a:effectLst>
            <a:outerShdw sx="100000" sy="100000" kx="0" ky="0" algn="bl" rotWithShape="0" blurRad="76200" dist="25400" dir="5400000">
              <a:srgbClr val="000000">
                <a:alpha val="18000"/>
              </a:srgbClr>
            </a:outerShdw>
          </a:effectLst>
        </p:spPr>
      </p:sp>
      <p:pic>
        <p:nvPicPr>
          <p:cNvPr id="14" name="Capture réseau NAT" descr="natnetwork list : réseau tp-cloud, 10.10.0.0/24, 3 redirections">    </p:cNvPr>
          <p:cNvPicPr>
            <a:picLocks noChangeAspect="1"/>
          </p:cNvPicPr>
          <p:nvPr/>
        </p:nvPicPr>
        <p:blipFill>
          <a:blip r:embed="rId1"/>
          <a:stretch>
            <a:fillRect/>
          </a:stretch>
        </p:blipFill>
        <p:spPr>
          <a:xfrm>
            <a:off x="5943600" y="1600200"/>
            <a:ext cx="5669280" cy="3118104"/>
          </a:xfrm>
          <a:prstGeom prst="rect">
            <a:avLst/>
          </a:prstGeom>
        </p:spPr>
      </p:pic>
      <p:sp>
        <p:nvSpPr>
          <p:cNvPr id="15" name="Capture configuration web (cadre)"/>
          <p:cNvSpPr/>
          <p:nvPr/>
        </p:nvSpPr>
        <p:spPr>
          <a:xfrm>
            <a:off x="5897880" y="4992624"/>
            <a:ext cx="5115324" cy="1463040"/>
          </a:xfrm>
          <a:prstGeom prst="rect">
            <a:avLst/>
          </a:prstGeom>
          <a:solidFill>
            <a:schemeClr val="bg1"/>
          </a:solidFill>
          <a:ln w="9525">
            <a:solidFill>
              <a:srgbClr val="8FB8C4"/>
            </a:solidFill>
            <a:prstDash val="solid"/>
          </a:ln>
          <a:effectLst>
            <a:outerShdw sx="100000" sy="100000" kx="0" ky="0" algn="bl" rotWithShape="0" blurRad="76200" dist="25400" dir="5400000">
              <a:srgbClr val="000000">
                <a:alpha val="18000"/>
              </a:srgbClr>
            </a:outerShdw>
          </a:effectLst>
        </p:spPr>
      </p:sp>
      <p:pic>
        <p:nvPicPr>
          <p:cNvPr id="16" name="Capture configuration web" descr="showvminfo web : 1024 Mo, 1 CPU, NAT Network tp-cloud">    </p:cNvPr>
          <p:cNvPicPr>
            <a:picLocks noChangeAspect="1"/>
          </p:cNvPicPr>
          <p:nvPr/>
        </p:nvPicPr>
        <p:blipFill>
          <a:blip r:embed="rId2"/>
          <a:stretch>
            <a:fillRect/>
          </a:stretch>
        </p:blipFill>
        <p:spPr>
          <a:xfrm>
            <a:off x="5943600" y="5038344"/>
            <a:ext cx="5023884" cy="1371600"/>
          </a:xfrm>
          <a:prstGeom prst="rect">
            <a:avLst/>
          </a:prstGeom>
        </p:spPr>
      </p:pic>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C6B7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Repère de partie"/>
          <p:cNvSpPr txBox="1"/>
          <p:nvPr/>
        </p:nvSpPr>
        <p:spPr>
          <a:xfrm>
            <a:off x="548640" y="274320"/>
            <a:ext cx="8229600" cy="274320"/>
          </a:xfrm>
          <a:prstGeom prst="rect">
            <a:avLst/>
          </a:prstGeom>
          <a:noFill/>
          <a:ln/>
        </p:spPr>
        <p:txBody>
          <a:bodyPr wrap="square" lIns="0" tIns="0" rIns="0" bIns="0" rtlCol="0" anchor="t"/>
          <a:lstStyle/>
          <a:p>
            <a:pPr indent="0" marL="0">
              <a:buNone/>
            </a:pPr>
            <a:r>
              <a:rPr lang="en-US" sz="1200" b="1" spc="200" kern="0" dirty="0">
                <a:solidFill>
                  <a:schemeClr val="accent1"/>
                </a:solidFill>
              </a:rPr>
              <a:t>PARTIE 1 · DÉPANNAGE</a:t>
            </a:r>
            <a:endParaRPr lang="en-US" sz="1200" dirty="0"/>
          </a:p>
        </p:txBody>
      </p:sp>
      <p:sp>
        <p:nvSpPr>
          <p:cNvPr id="3" name="Text 0"/>
          <p:cNvSpPr/>
          <p:nvPr>
            <p:ph idx="100" type="title" hasCustomPrompt="1"/>
          </p:nvPr>
        </p:nvSpPr>
        <p:spPr>
          <a:xfrm>
            <a:off x="548640" y="566928"/>
            <a:ext cx="11064240" cy="777240"/>
          </a:xfrm>
          <a:prstGeom prst="rect">
            <a:avLst/>
          </a:prstGeom>
          <a:noFill/>
          <a:ln/>
        </p:spPr>
        <p:txBody>
          <a:bodyPr wrap="square" lIns="0" tIns="0" rIns="0" bIns="0" rtlCol="0" anchor="ctr"/>
          <a:lstStyle/>
          <a:p>
            <a:pPr algn="l" indent="0" marL="0">
              <a:buNone/>
            </a:pPr>
            <a:r>
              <a:rPr lang="en-US" sz="3400" b="1" dirty="0">
                <a:solidFill>
                  <a:schemeClr val="tx2"/>
                </a:solidFill>
              </a:rPr>
              <a:t>Un clone garde l’ancienne adresse MAC</a:t>
            </a:r>
            <a:endParaRPr lang="en-US" sz="3400" dirty="0"/>
          </a:p>
        </p:txBody>
      </p:sp>
      <p:sp>
        <p:nvSpPr>
          <p:cNvPr id="4" name="Carte symptôme"/>
          <p:cNvSpPr/>
          <p:nvPr/>
        </p:nvSpPr>
        <p:spPr>
          <a:xfrm>
            <a:off x="548640" y="1600200"/>
            <a:ext cx="4937760" cy="1463040"/>
          </a:xfrm>
          <a:prstGeom prst="roundRect">
            <a:avLst>
              <a:gd name="adj" fmla="val 7500"/>
            </a:avLst>
          </a:prstGeom>
          <a:solidFill>
            <a:schemeClr val="bg2"/>
          </a:solidFill>
          <a:ln/>
        </p:spPr>
      </p:sp>
      <p:sp>
        <p:nvSpPr>
          <p:cNvPr id="5" name="Carte symptôme titre"/>
          <p:cNvSpPr txBox="1"/>
          <p:nvPr/>
        </p:nvSpPr>
        <p:spPr>
          <a:xfrm>
            <a:off x="777240" y="1737360"/>
            <a:ext cx="4480560" cy="365760"/>
          </a:xfrm>
          <a:prstGeom prst="rect">
            <a:avLst/>
          </a:prstGeom>
          <a:noFill/>
          <a:ln/>
        </p:spPr>
        <p:txBody>
          <a:bodyPr wrap="square" lIns="0" tIns="0" rIns="0" bIns="0" rtlCol="0" anchor="t"/>
          <a:lstStyle/>
          <a:p>
            <a:pPr indent="0" marL="0">
              <a:buNone/>
            </a:pPr>
            <a:r>
              <a:rPr lang="en-US" sz="1800" b="1" dirty="0">
                <a:solidFill>
                  <a:schemeClr val="accent4"/>
                </a:solidFill>
              </a:rPr>
              <a:t>Symptôme</a:t>
            </a:r>
            <a:endParaRPr lang="en-US" sz="1800" dirty="0"/>
          </a:p>
        </p:txBody>
      </p:sp>
      <p:sp>
        <p:nvSpPr>
          <p:cNvPr id="6" name="Carte symptôme texte"/>
          <p:cNvSpPr txBox="1"/>
          <p:nvPr/>
        </p:nvSpPr>
        <p:spPr>
          <a:xfrm>
            <a:off x="777240" y="2148840"/>
            <a:ext cx="4480560" cy="777240"/>
          </a:xfrm>
          <a:prstGeom prst="rect">
            <a:avLst/>
          </a:prstGeom>
          <a:noFill/>
          <a:ln/>
        </p:spPr>
        <p:txBody>
          <a:bodyPr wrap="square" lIns="0" tIns="0" rIns="0" bIns="0" rtlCol="0" anchor="t"/>
          <a:lstStyle/>
          <a:p>
            <a:pPr indent="0" marL="0">
              <a:buNone/>
            </a:pPr>
            <a:r>
              <a:rPr lang="en-US" sz="1500" dirty="0">
                <a:solidFill>
                  <a:schemeClr val="tx1"/>
                </a:solidFill>
              </a:rPr>
              <a:t>netplan apply : « Cannot find unique matching interface for enp0s3 »</a:t>
            </a:r>
            <a:endParaRPr lang="en-US" sz="1500" dirty="0"/>
          </a:p>
        </p:txBody>
      </p:sp>
      <p:sp>
        <p:nvSpPr>
          <p:cNvPr id="7" name="Carte cause"/>
          <p:cNvSpPr/>
          <p:nvPr/>
        </p:nvSpPr>
        <p:spPr>
          <a:xfrm>
            <a:off x="548640" y="3246120"/>
            <a:ext cx="4937760" cy="1600200"/>
          </a:xfrm>
          <a:prstGeom prst="roundRect">
            <a:avLst>
              <a:gd name="adj" fmla="val 6857"/>
            </a:avLst>
          </a:prstGeom>
          <a:solidFill>
            <a:schemeClr val="bg2"/>
          </a:solidFill>
          <a:ln/>
        </p:spPr>
      </p:sp>
      <p:sp>
        <p:nvSpPr>
          <p:cNvPr id="8" name="Carte cause titre"/>
          <p:cNvSpPr txBox="1"/>
          <p:nvPr/>
        </p:nvSpPr>
        <p:spPr>
          <a:xfrm>
            <a:off x="777240" y="3383280"/>
            <a:ext cx="4480560" cy="365760"/>
          </a:xfrm>
          <a:prstGeom prst="rect">
            <a:avLst/>
          </a:prstGeom>
          <a:noFill/>
          <a:ln/>
        </p:spPr>
        <p:txBody>
          <a:bodyPr wrap="square" lIns="0" tIns="0" rIns="0" bIns="0" rtlCol="0" anchor="t"/>
          <a:lstStyle/>
          <a:p>
            <a:pPr indent="0" marL="0">
              <a:buNone/>
            </a:pPr>
            <a:r>
              <a:rPr lang="en-US" sz="1800" b="1" dirty="0">
                <a:solidFill>
                  <a:schemeClr val="accent2"/>
                </a:solidFill>
              </a:rPr>
              <a:t>Cause</a:t>
            </a:r>
            <a:endParaRPr lang="en-US" sz="1800" dirty="0"/>
          </a:p>
        </p:txBody>
      </p:sp>
      <p:sp>
        <p:nvSpPr>
          <p:cNvPr id="9" name="Carte cause texte"/>
          <p:cNvSpPr txBox="1"/>
          <p:nvPr/>
        </p:nvSpPr>
        <p:spPr>
          <a:xfrm>
            <a:off x="777240" y="3794760"/>
            <a:ext cx="4480560" cy="914400"/>
          </a:xfrm>
          <a:prstGeom prst="rect">
            <a:avLst/>
          </a:prstGeom>
          <a:noFill/>
          <a:ln/>
        </p:spPr>
        <p:txBody>
          <a:bodyPr wrap="square" lIns="0" tIns="0" rIns="0" bIns="0" rtlCol="0" anchor="t"/>
          <a:lstStyle/>
          <a:p>
            <a:pPr indent="0" marL="0">
              <a:buNone/>
            </a:pPr>
            <a:r>
              <a:rPr lang="en-US" sz="1500" dirty="0">
                <a:solidFill>
                  <a:schemeClr val="tx1"/>
                </a:solidFill>
              </a:rPr>
              <a:t>Le fichier 00-installer-config.yaml lie l’interface à la MAC de ubuntu-srv.</a:t>
            </a:r>
            <a:endParaRPr lang="en-US" sz="1500" dirty="0"/>
          </a:p>
        </p:txBody>
      </p:sp>
      <p:sp>
        <p:nvSpPr>
          <p:cNvPr id="10" name="Carte solution"/>
          <p:cNvSpPr/>
          <p:nvPr/>
        </p:nvSpPr>
        <p:spPr>
          <a:xfrm>
            <a:off x="548640" y="5029200"/>
            <a:ext cx="4937760" cy="1188720"/>
          </a:xfrm>
          <a:prstGeom prst="roundRect">
            <a:avLst>
              <a:gd name="adj" fmla="val 9231"/>
            </a:avLst>
          </a:prstGeom>
          <a:solidFill>
            <a:schemeClr val="bg2"/>
          </a:solidFill>
          <a:ln/>
        </p:spPr>
      </p:sp>
      <p:sp>
        <p:nvSpPr>
          <p:cNvPr id="11" name="Carte solution titre"/>
          <p:cNvSpPr txBox="1"/>
          <p:nvPr/>
        </p:nvSpPr>
        <p:spPr>
          <a:xfrm>
            <a:off x="777240" y="5166360"/>
            <a:ext cx="4480560" cy="365760"/>
          </a:xfrm>
          <a:prstGeom prst="rect">
            <a:avLst/>
          </a:prstGeom>
          <a:noFill/>
          <a:ln/>
        </p:spPr>
        <p:txBody>
          <a:bodyPr wrap="square" lIns="0" tIns="0" rIns="0" bIns="0" rtlCol="0" anchor="t"/>
          <a:lstStyle/>
          <a:p>
            <a:pPr indent="0" marL="0">
              <a:buNone/>
            </a:pPr>
            <a:r>
              <a:rPr lang="en-US" sz="1800" b="1" dirty="0">
                <a:solidFill>
                  <a:schemeClr val="accent3"/>
                </a:solidFill>
              </a:rPr>
              <a:t>Solution</a:t>
            </a:r>
            <a:endParaRPr lang="en-US" sz="1800" dirty="0"/>
          </a:p>
        </p:txBody>
      </p:sp>
      <p:sp>
        <p:nvSpPr>
          <p:cNvPr id="12" name="Carte solution texte"/>
          <p:cNvSpPr txBox="1"/>
          <p:nvPr/>
        </p:nvSpPr>
        <p:spPr>
          <a:xfrm>
            <a:off x="777240" y="5577840"/>
            <a:ext cx="4480560" cy="502920"/>
          </a:xfrm>
          <a:prstGeom prst="rect">
            <a:avLst/>
          </a:prstGeom>
          <a:noFill/>
          <a:ln/>
        </p:spPr>
        <p:txBody>
          <a:bodyPr wrap="square" lIns="0" tIns="0" rIns="0" bIns="0" rtlCol="0" anchor="t"/>
          <a:lstStyle/>
          <a:p>
            <a:pPr indent="0" marL="0">
              <a:buNone/>
            </a:pPr>
            <a:r>
              <a:rPr lang="en-US" sz="1500" dirty="0">
                <a:solidFill>
                  <a:schemeClr val="tx1"/>
                </a:solidFill>
              </a:rPr>
              <a:t>Déplacer ce fichier, garder 99-tp.yaml.</a:t>
            </a:r>
            <a:endParaRPr lang="en-US" sz="1500" dirty="0"/>
          </a:p>
        </p:txBody>
      </p:sp>
      <p:sp>
        <p:nvSpPr>
          <p:cNvPr id="13" name="Capture ancien fichier netplan (cadre)"/>
          <p:cNvSpPr/>
          <p:nvPr/>
        </p:nvSpPr>
        <p:spPr>
          <a:xfrm>
            <a:off x="5897880" y="1554480"/>
            <a:ext cx="5107388" cy="2834640"/>
          </a:xfrm>
          <a:prstGeom prst="rect">
            <a:avLst/>
          </a:prstGeom>
          <a:solidFill>
            <a:schemeClr val="bg1"/>
          </a:solidFill>
          <a:ln w="9525">
            <a:solidFill>
              <a:srgbClr val="8FB8C4"/>
            </a:solidFill>
            <a:prstDash val="solid"/>
          </a:ln>
          <a:effectLst>
            <a:outerShdw sx="100000" sy="100000" kx="0" ky="0" algn="bl" rotWithShape="0" blurRad="76200" dist="25400" dir="5400000">
              <a:srgbClr val="000000">
                <a:alpha val="18000"/>
              </a:srgbClr>
            </a:outerShdw>
          </a:effectLst>
        </p:spPr>
      </p:sp>
      <p:pic>
        <p:nvPicPr>
          <p:cNvPr id="14" name="Capture ancien fichier netplan" descr="Ancien fichier netplan avec macaddress 08:00:27:62:66:c9">    </p:cNvPr>
          <p:cNvPicPr>
            <a:picLocks noChangeAspect="1"/>
          </p:cNvPicPr>
          <p:nvPr/>
        </p:nvPicPr>
        <p:blipFill>
          <a:blip r:embed="rId1"/>
          <a:stretch>
            <a:fillRect/>
          </a:stretch>
        </p:blipFill>
        <p:spPr>
          <a:xfrm>
            <a:off x="5943600" y="1600200"/>
            <a:ext cx="5015948" cy="2743200"/>
          </a:xfrm>
          <a:prstGeom prst="rect">
            <a:avLst/>
          </a:prstGeom>
        </p:spPr>
      </p:pic>
      <p:sp>
        <p:nvSpPr>
          <p:cNvPr id="15" name="Légende image"/>
          <p:cNvSpPr txBox="1"/>
          <p:nvPr/>
        </p:nvSpPr>
        <p:spPr>
          <a:xfrm>
            <a:off x="5943600" y="4480560"/>
            <a:ext cx="5669280" cy="274320"/>
          </a:xfrm>
          <a:prstGeom prst="rect">
            <a:avLst/>
          </a:prstGeom>
          <a:noFill/>
          <a:ln/>
        </p:spPr>
        <p:txBody>
          <a:bodyPr wrap="square" lIns="0" tIns="0" rIns="0" bIns="0" rtlCol="0" anchor="t"/>
          <a:lstStyle/>
          <a:p>
            <a:pPr indent="0" marL="0">
              <a:buNone/>
            </a:pPr>
            <a:r>
              <a:rPr lang="en-US" sz="1100" i="1" dirty="0">
                <a:solidFill>
                  <a:schemeClr val="accent5"/>
                </a:solidFill>
              </a:rPr>
              <a:t>match: macaddress: 08:00:27:62:66:c9 (MAC de l’image d’origine)</a:t>
            </a:r>
            <a:endParaRPr lang="en-US" sz="1100" dirty="0"/>
          </a:p>
        </p:txBody>
      </p:sp>
      <p:sp>
        <p:nvSpPr>
          <p:cNvPr id="16" name="Capture IP de web (cadre)"/>
          <p:cNvSpPr/>
          <p:nvPr/>
        </p:nvSpPr>
        <p:spPr>
          <a:xfrm>
            <a:off x="5897880" y="4983480"/>
            <a:ext cx="5760720" cy="841097"/>
          </a:xfrm>
          <a:prstGeom prst="rect">
            <a:avLst/>
          </a:prstGeom>
          <a:solidFill>
            <a:schemeClr val="bg1"/>
          </a:solidFill>
          <a:ln w="9525">
            <a:solidFill>
              <a:srgbClr val="8FB8C4"/>
            </a:solidFill>
            <a:prstDash val="solid"/>
          </a:ln>
          <a:effectLst>
            <a:outerShdw sx="100000" sy="100000" kx="0" ky="0" algn="bl" rotWithShape="0" blurRad="76200" dist="25400" dir="5400000">
              <a:srgbClr val="000000">
                <a:alpha val="18000"/>
              </a:srgbClr>
            </a:outerShdw>
          </a:effectLst>
        </p:spPr>
      </p:sp>
      <p:pic>
        <p:nvPicPr>
          <p:cNvPr id="17" name="Capture IP de web" descr="ip addr : web a l'adresse 10.10.0.10/24">    </p:cNvPr>
          <p:cNvPicPr>
            <a:picLocks noChangeAspect="1"/>
          </p:cNvPicPr>
          <p:nvPr/>
        </p:nvPicPr>
        <p:blipFill>
          <a:blip r:embed="rId2"/>
          <a:stretch>
            <a:fillRect/>
          </a:stretch>
        </p:blipFill>
        <p:spPr>
          <a:xfrm>
            <a:off x="5943600" y="5029200"/>
            <a:ext cx="5669280" cy="749657"/>
          </a:xfrm>
          <a:prstGeom prst="rect">
            <a:avLst/>
          </a:prstGeom>
        </p:spPr>
      </p:pic>
      <p:sp>
        <p:nvSpPr>
          <p:cNvPr id="18" name="Légende image"/>
          <p:cNvSpPr txBox="1"/>
          <p:nvPr/>
        </p:nvSpPr>
        <p:spPr>
          <a:xfrm>
            <a:off x="5943600" y="5916017"/>
            <a:ext cx="5669280" cy="274320"/>
          </a:xfrm>
          <a:prstGeom prst="rect">
            <a:avLst/>
          </a:prstGeom>
          <a:noFill/>
          <a:ln/>
        </p:spPr>
        <p:txBody>
          <a:bodyPr wrap="square" lIns="0" tIns="0" rIns="0" bIns="0" rtlCol="0" anchor="t"/>
          <a:lstStyle/>
          <a:p>
            <a:pPr indent="0" marL="0">
              <a:buNone/>
            </a:pPr>
            <a:r>
              <a:rPr lang="en-US" sz="1100" i="1" dirty="0">
                <a:solidFill>
                  <a:schemeClr val="accent5"/>
                </a:solidFill>
              </a:rPr>
              <a:t>Après correction : web = 10.10.0.10/24</a:t>
            </a:r>
            <a:endParaRPr lang="en-US" sz="11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C6B7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Repère de partie"/>
          <p:cNvSpPr txBox="1"/>
          <p:nvPr/>
        </p:nvSpPr>
        <p:spPr>
          <a:xfrm>
            <a:off x="548640" y="274320"/>
            <a:ext cx="8229600" cy="274320"/>
          </a:xfrm>
          <a:prstGeom prst="rect">
            <a:avLst/>
          </a:prstGeom>
          <a:noFill/>
          <a:ln/>
        </p:spPr>
        <p:txBody>
          <a:bodyPr wrap="square" lIns="0" tIns="0" rIns="0" bIns="0" rtlCol="0" anchor="t"/>
          <a:lstStyle/>
          <a:p>
            <a:pPr indent="0" marL="0">
              <a:buNone/>
            </a:pPr>
            <a:r>
              <a:rPr lang="en-US" sz="1200" b="1" spc="200" kern="0" dirty="0">
                <a:solidFill>
                  <a:schemeClr val="accent1"/>
                </a:solidFill>
              </a:rPr>
              <a:t>PARTIE 1 · ACCÈS</a:t>
            </a:r>
            <a:endParaRPr lang="en-US" sz="1200" dirty="0"/>
          </a:p>
        </p:txBody>
      </p:sp>
      <p:sp>
        <p:nvSpPr>
          <p:cNvPr id="3" name="Text 0"/>
          <p:cNvSpPr/>
          <p:nvPr>
            <p:ph idx="100" type="title" hasCustomPrompt="1"/>
          </p:nvPr>
        </p:nvSpPr>
        <p:spPr>
          <a:xfrm>
            <a:off x="548640" y="566928"/>
            <a:ext cx="11064240" cy="777240"/>
          </a:xfrm>
          <a:prstGeom prst="rect">
            <a:avLst/>
          </a:prstGeom>
          <a:noFill/>
          <a:ln/>
        </p:spPr>
        <p:txBody>
          <a:bodyPr wrap="square" lIns="0" tIns="0" rIns="0" bIns="0" rtlCol="0" anchor="ctr"/>
          <a:lstStyle/>
          <a:p>
            <a:pPr algn="l" indent="0" marL="0">
              <a:buNone/>
            </a:pPr>
            <a:r>
              <a:rPr lang="en-US" sz="3400" b="1" dirty="0">
                <a:solidFill>
                  <a:schemeClr val="tx2"/>
                </a:solidFill>
              </a:rPr>
              <a:t>Les deux VM répondent en SSH</a:t>
            </a:r>
            <a:endParaRPr lang="en-US" sz="3400" dirty="0"/>
          </a:p>
        </p:txBody>
      </p:sp>
      <p:sp>
        <p:nvSpPr>
          <p:cNvPr id="4" name="Capture SSH web (cadre)"/>
          <p:cNvSpPr/>
          <p:nvPr/>
        </p:nvSpPr>
        <p:spPr>
          <a:xfrm>
            <a:off x="502920" y="1554480"/>
            <a:ext cx="5943600" cy="3530653"/>
          </a:xfrm>
          <a:prstGeom prst="rect">
            <a:avLst/>
          </a:prstGeom>
          <a:solidFill>
            <a:schemeClr val="bg1"/>
          </a:solidFill>
          <a:ln w="9525">
            <a:solidFill>
              <a:srgbClr val="8FB8C4"/>
            </a:solidFill>
            <a:prstDash val="solid"/>
          </a:ln>
          <a:effectLst>
            <a:outerShdw sx="100000" sy="100000" kx="0" ky="0" algn="bl" rotWithShape="0" blurRad="76200" dist="25400" dir="5400000">
              <a:srgbClr val="000000">
                <a:alpha val="18000"/>
              </a:srgbClr>
            </a:outerShdw>
          </a:effectLst>
        </p:spPr>
      </p:sp>
      <p:pic>
        <p:nvPicPr>
          <p:cNvPr id="5" name="Capture SSH web" descr="SSH vers web : Ubuntu 26.04.1 LTS, noyau 7.0.0-38-generic">    </p:cNvPr>
          <p:cNvPicPr>
            <a:picLocks noChangeAspect="1"/>
          </p:cNvPicPr>
          <p:nvPr/>
        </p:nvPicPr>
        <p:blipFill>
          <a:blip r:embed="rId1"/>
          <a:stretch>
            <a:fillRect/>
          </a:stretch>
        </p:blipFill>
        <p:spPr>
          <a:xfrm>
            <a:off x="548640" y="1600200"/>
            <a:ext cx="5852160" cy="3439213"/>
          </a:xfrm>
          <a:prstGeom prst="rect">
            <a:avLst/>
          </a:prstGeom>
        </p:spPr>
      </p:pic>
      <p:sp>
        <p:nvSpPr>
          <p:cNvPr id="6" name="Légende image"/>
          <p:cNvSpPr txBox="1"/>
          <p:nvPr/>
        </p:nvSpPr>
        <p:spPr>
          <a:xfrm>
            <a:off x="548640" y="5176573"/>
            <a:ext cx="5852160" cy="274320"/>
          </a:xfrm>
          <a:prstGeom prst="rect">
            <a:avLst/>
          </a:prstGeom>
          <a:noFill/>
          <a:ln/>
        </p:spPr>
        <p:txBody>
          <a:bodyPr wrap="square" lIns="0" tIns="0" rIns="0" bIns="0" rtlCol="0" anchor="t"/>
          <a:lstStyle/>
          <a:p>
            <a:pPr indent="0" marL="0">
              <a:buNone/>
            </a:pPr>
            <a:r>
              <a:rPr lang="en-US" sz="1100" i="1" dirty="0">
                <a:solidFill>
                  <a:schemeClr val="accent5"/>
                </a:solidFill>
              </a:rPr>
              <a:t>ssh -p 2222 : hostnamectl, lsb_release, uname -r</a:t>
            </a:r>
            <a:endParaRPr lang="en-US" sz="1100" dirty="0"/>
          </a:p>
        </p:txBody>
      </p:sp>
      <p:sp>
        <p:nvSpPr>
          <p:cNvPr id="7" name="Capture SSH client (cadre)"/>
          <p:cNvSpPr/>
          <p:nvPr/>
        </p:nvSpPr>
        <p:spPr>
          <a:xfrm>
            <a:off x="6812280" y="1554480"/>
            <a:ext cx="4846320" cy="1368120"/>
          </a:xfrm>
          <a:prstGeom prst="rect">
            <a:avLst/>
          </a:prstGeom>
          <a:solidFill>
            <a:schemeClr val="bg1"/>
          </a:solidFill>
          <a:ln w="9525">
            <a:solidFill>
              <a:srgbClr val="8FB8C4"/>
            </a:solidFill>
            <a:prstDash val="solid"/>
          </a:ln>
          <a:effectLst>
            <a:outerShdw sx="100000" sy="100000" kx="0" ky="0" algn="bl" rotWithShape="0" blurRad="76200" dist="25400" dir="5400000">
              <a:srgbClr val="000000">
                <a:alpha val="18000"/>
              </a:srgbClr>
            </a:outerShdw>
          </a:effectLst>
        </p:spPr>
      </p:sp>
      <p:pic>
        <p:nvPicPr>
          <p:cNvPr id="8" name="Capture SSH client" descr="SSH vers client : hostname client, 10.10.0.20/24">    </p:cNvPr>
          <p:cNvPicPr>
            <a:picLocks noChangeAspect="1"/>
          </p:cNvPicPr>
          <p:nvPr/>
        </p:nvPicPr>
        <p:blipFill>
          <a:blip r:embed="rId2"/>
          <a:stretch>
            <a:fillRect/>
          </a:stretch>
        </p:blipFill>
        <p:spPr>
          <a:xfrm>
            <a:off x="6858000" y="1600200"/>
            <a:ext cx="4754880" cy="1276680"/>
          </a:xfrm>
          <a:prstGeom prst="rect">
            <a:avLst/>
          </a:prstGeom>
        </p:spPr>
      </p:pic>
      <p:sp>
        <p:nvSpPr>
          <p:cNvPr id="9" name="Légende image"/>
          <p:cNvSpPr txBox="1"/>
          <p:nvPr/>
        </p:nvSpPr>
        <p:spPr>
          <a:xfrm>
            <a:off x="6858000" y="3014040"/>
            <a:ext cx="4754880" cy="274320"/>
          </a:xfrm>
          <a:prstGeom prst="rect">
            <a:avLst/>
          </a:prstGeom>
          <a:noFill/>
          <a:ln/>
        </p:spPr>
        <p:txBody>
          <a:bodyPr wrap="square" lIns="0" tIns="0" rIns="0" bIns="0" rtlCol="0" anchor="t"/>
          <a:lstStyle/>
          <a:p>
            <a:pPr indent="0" marL="0">
              <a:buNone/>
            </a:pPr>
            <a:r>
              <a:rPr lang="en-US" sz="1100" i="1" dirty="0">
                <a:solidFill>
                  <a:schemeClr val="accent5"/>
                </a:solidFill>
              </a:rPr>
              <a:t>ssh -p 2223 : client en 10.10.0.20/24</a:t>
            </a:r>
            <a:endParaRPr lang="en-US" sz="1100" dirty="0"/>
          </a:p>
        </p:txBody>
      </p:sp>
      <p:sp>
        <p:nvSpPr>
          <p:cNvPr id="10" name="Carte système"/>
          <p:cNvSpPr/>
          <p:nvPr/>
        </p:nvSpPr>
        <p:spPr>
          <a:xfrm>
            <a:off x="6858000" y="3611880"/>
            <a:ext cx="4754880" cy="1188720"/>
          </a:xfrm>
          <a:prstGeom prst="roundRect">
            <a:avLst>
              <a:gd name="adj" fmla="val 9231"/>
            </a:avLst>
          </a:prstGeom>
          <a:solidFill>
            <a:schemeClr val="bg2"/>
          </a:solidFill>
          <a:ln/>
        </p:spPr>
      </p:sp>
      <p:sp>
        <p:nvSpPr>
          <p:cNvPr id="11" name="Carte système titre"/>
          <p:cNvSpPr txBox="1"/>
          <p:nvPr/>
        </p:nvSpPr>
        <p:spPr>
          <a:xfrm>
            <a:off x="7086600" y="3749040"/>
            <a:ext cx="4297680" cy="365760"/>
          </a:xfrm>
          <a:prstGeom prst="rect">
            <a:avLst/>
          </a:prstGeom>
          <a:noFill/>
          <a:ln/>
        </p:spPr>
        <p:txBody>
          <a:bodyPr wrap="square" lIns="0" tIns="0" rIns="0" bIns="0" rtlCol="0" anchor="t"/>
          <a:lstStyle/>
          <a:p>
            <a:pPr indent="0" marL="0">
              <a:buNone/>
            </a:pPr>
            <a:r>
              <a:rPr lang="en-US" sz="1800" b="1" dirty="0">
                <a:solidFill>
                  <a:schemeClr val="accent1"/>
                </a:solidFill>
              </a:rPr>
              <a:t>Ubuntu 26.04.1 LTS</a:t>
            </a:r>
            <a:endParaRPr lang="en-US" sz="1800" dirty="0"/>
          </a:p>
        </p:txBody>
      </p:sp>
      <p:sp>
        <p:nvSpPr>
          <p:cNvPr id="12" name="Carte système texte"/>
          <p:cNvSpPr txBox="1"/>
          <p:nvPr/>
        </p:nvSpPr>
        <p:spPr>
          <a:xfrm>
            <a:off x="7086600" y="4160520"/>
            <a:ext cx="4297680" cy="502920"/>
          </a:xfrm>
          <a:prstGeom prst="rect">
            <a:avLst/>
          </a:prstGeom>
          <a:noFill/>
          <a:ln/>
        </p:spPr>
        <p:txBody>
          <a:bodyPr wrap="square" lIns="0" tIns="0" rIns="0" bIns="0" rtlCol="0" anchor="t"/>
          <a:lstStyle/>
          <a:p>
            <a:pPr indent="0" marL="0">
              <a:buNone/>
            </a:pPr>
            <a:r>
              <a:rPr lang="en-US" sz="1500" dirty="0">
                <a:solidFill>
                  <a:schemeClr val="tx1"/>
                </a:solidFill>
              </a:rPr>
              <a:t>Noyau Linux 7.0.0-38-generic</a:t>
            </a:r>
            <a:endParaRPr lang="en-US" sz="1500" dirty="0"/>
          </a:p>
        </p:txBody>
      </p:sp>
      <p:sp>
        <p:nvSpPr>
          <p:cNvPr id="13" name="Carte ressources"/>
          <p:cNvSpPr/>
          <p:nvPr/>
        </p:nvSpPr>
        <p:spPr>
          <a:xfrm>
            <a:off x="6858000" y="4983480"/>
            <a:ext cx="4754880" cy="1188720"/>
          </a:xfrm>
          <a:prstGeom prst="roundRect">
            <a:avLst>
              <a:gd name="adj" fmla="val 9231"/>
            </a:avLst>
          </a:prstGeom>
          <a:solidFill>
            <a:schemeClr val="bg2"/>
          </a:solidFill>
          <a:ln/>
        </p:spPr>
      </p:sp>
      <p:sp>
        <p:nvSpPr>
          <p:cNvPr id="14" name="Carte ressources titre"/>
          <p:cNvSpPr txBox="1"/>
          <p:nvPr/>
        </p:nvSpPr>
        <p:spPr>
          <a:xfrm>
            <a:off x="7086600" y="5120640"/>
            <a:ext cx="4297680" cy="365760"/>
          </a:xfrm>
          <a:prstGeom prst="rect">
            <a:avLst/>
          </a:prstGeom>
          <a:noFill/>
          <a:ln/>
        </p:spPr>
        <p:txBody>
          <a:bodyPr wrap="square" lIns="0" tIns="0" rIns="0" bIns="0" rtlCol="0" anchor="t"/>
          <a:lstStyle/>
          <a:p>
            <a:pPr indent="0" marL="0">
              <a:buNone/>
            </a:pPr>
            <a:r>
              <a:rPr lang="en-US" sz="1800" b="1" dirty="0">
                <a:solidFill>
                  <a:schemeClr val="accent1"/>
                </a:solidFill>
              </a:rPr>
              <a:t>1 vCPU · 1 Go de RAM</a:t>
            </a:r>
            <a:endParaRPr lang="en-US" sz="1800" dirty="0"/>
          </a:p>
        </p:txBody>
      </p:sp>
      <p:sp>
        <p:nvSpPr>
          <p:cNvPr id="15" name="Carte ressources texte"/>
          <p:cNvSpPr txBox="1"/>
          <p:nvPr/>
        </p:nvSpPr>
        <p:spPr>
          <a:xfrm>
            <a:off x="7086600" y="5532120"/>
            <a:ext cx="4297680" cy="502920"/>
          </a:xfrm>
          <a:prstGeom prst="rect">
            <a:avLst/>
          </a:prstGeom>
          <a:noFill/>
          <a:ln/>
        </p:spPr>
        <p:txBody>
          <a:bodyPr wrap="square" lIns="0" tIns="0" rIns="0" bIns="0" rtlCol="0" anchor="t"/>
          <a:lstStyle/>
          <a:p>
            <a:pPr indent="0" marL="0">
              <a:buNone/>
            </a:pPr>
            <a:r>
              <a:rPr lang="en-US" sz="1500" dirty="0">
                <a:solidFill>
                  <a:schemeClr val="tx1"/>
                </a:solidFill>
              </a:rPr>
              <a:t>Chaque clone, comme demandé</a:t>
            </a:r>
            <a:endParaRPr lang="en-US" sz="15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C6B7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Repère de partie"/>
          <p:cNvSpPr txBox="1"/>
          <p:nvPr/>
        </p:nvSpPr>
        <p:spPr>
          <a:xfrm>
            <a:off x="548640" y="274320"/>
            <a:ext cx="8229600" cy="274320"/>
          </a:xfrm>
          <a:prstGeom prst="rect">
            <a:avLst/>
          </a:prstGeom>
          <a:noFill/>
          <a:ln/>
        </p:spPr>
        <p:txBody>
          <a:bodyPr wrap="square" lIns="0" tIns="0" rIns="0" bIns="0" rtlCol="0" anchor="t"/>
          <a:lstStyle/>
          <a:p>
            <a:pPr indent="0" marL="0">
              <a:buNone/>
            </a:pPr>
            <a:r>
              <a:rPr lang="en-US" sz="1200" b="1" spc="200" kern="0" dirty="0">
                <a:solidFill>
                  <a:schemeClr val="accent1"/>
                </a:solidFill>
              </a:rPr>
              <a:t>PARTIE 2 · RÉSEAU</a:t>
            </a:r>
            <a:endParaRPr lang="en-US" sz="1200" dirty="0"/>
          </a:p>
        </p:txBody>
      </p:sp>
      <p:sp>
        <p:nvSpPr>
          <p:cNvPr id="3" name="Text 0"/>
          <p:cNvSpPr/>
          <p:nvPr>
            <p:ph idx="100" type="title" hasCustomPrompt="1"/>
          </p:nvPr>
        </p:nvSpPr>
        <p:spPr>
          <a:xfrm>
            <a:off x="548640" y="566928"/>
            <a:ext cx="11064240" cy="777240"/>
          </a:xfrm>
          <a:prstGeom prst="rect">
            <a:avLst/>
          </a:prstGeom>
          <a:noFill/>
          <a:ln/>
        </p:spPr>
        <p:txBody>
          <a:bodyPr wrap="square" lIns="0" tIns="0" rIns="0" bIns="0" rtlCol="0" anchor="ctr"/>
          <a:lstStyle/>
          <a:p>
            <a:pPr algn="l" indent="0" marL="0">
              <a:buNone/>
            </a:pPr>
            <a:r>
              <a:rPr lang="en-US" sz="3400" b="1" dirty="0">
                <a:solidFill>
                  <a:schemeClr val="tx2"/>
                </a:solidFill>
              </a:rPr>
              <a:t>Même sous-réseau, mais isolé de l’hôte</a:t>
            </a:r>
            <a:endParaRPr lang="en-US" sz="3400" dirty="0"/>
          </a:p>
        </p:txBody>
      </p:sp>
      <p:sp>
        <p:nvSpPr>
          <p:cNvPr id="4" name="Capture connectivité (cadre)"/>
          <p:cNvSpPr/>
          <p:nvPr/>
        </p:nvSpPr>
        <p:spPr>
          <a:xfrm>
            <a:off x="502920" y="1554480"/>
            <a:ext cx="5212080" cy="4125683"/>
          </a:xfrm>
          <a:prstGeom prst="rect">
            <a:avLst/>
          </a:prstGeom>
          <a:solidFill>
            <a:schemeClr val="bg1"/>
          </a:solidFill>
          <a:ln w="9525">
            <a:solidFill>
              <a:srgbClr val="8FB8C4"/>
            </a:solidFill>
            <a:prstDash val="solid"/>
          </a:ln>
          <a:effectLst>
            <a:outerShdw sx="100000" sy="100000" kx="0" ky="0" algn="bl" rotWithShape="0" blurRad="76200" dist="25400" dir="5400000">
              <a:srgbClr val="000000">
                <a:alpha val="18000"/>
              </a:srgbClr>
            </a:outerShdw>
          </a:effectLst>
        </p:spPr>
      </p:sp>
      <p:pic>
        <p:nvPicPr>
          <p:cNvPr id="5" name="Capture connectivité" descr="Pings vers web, la passerelle et Internet ; ip route et DNS">    </p:cNvPr>
          <p:cNvPicPr>
            <a:picLocks noChangeAspect="1"/>
          </p:cNvPicPr>
          <p:nvPr/>
        </p:nvPicPr>
        <p:blipFill>
          <a:blip r:embed="rId1"/>
          <a:stretch>
            <a:fillRect/>
          </a:stretch>
        </p:blipFill>
        <p:spPr>
          <a:xfrm>
            <a:off x="548640" y="1600200"/>
            <a:ext cx="5120640" cy="4034243"/>
          </a:xfrm>
          <a:prstGeom prst="rect">
            <a:avLst/>
          </a:prstGeom>
        </p:spPr>
      </p:pic>
      <p:sp>
        <p:nvSpPr>
          <p:cNvPr id="6" name="Légende image"/>
          <p:cNvSpPr txBox="1"/>
          <p:nvPr/>
        </p:nvSpPr>
        <p:spPr>
          <a:xfrm>
            <a:off x="548640" y="5771603"/>
            <a:ext cx="5120640" cy="274320"/>
          </a:xfrm>
          <a:prstGeom prst="rect">
            <a:avLst/>
          </a:prstGeom>
          <a:noFill/>
          <a:ln/>
        </p:spPr>
        <p:txBody>
          <a:bodyPr wrap="square" lIns="0" tIns="0" rIns="0" bIns="0" rtlCol="0" anchor="t"/>
          <a:lstStyle/>
          <a:p>
            <a:pPr indent="0" marL="0">
              <a:buNone/>
            </a:pPr>
            <a:r>
              <a:rPr lang="en-US" sz="1100" i="1" dirty="0">
                <a:solidFill>
                  <a:schemeClr val="accent5"/>
                </a:solidFill>
              </a:rPr>
              <a:t>Depuis client : web, passerelle 10.10.0.1, Internet</a:t>
            </a:r>
            <a:endParaRPr lang="en-US" sz="1100" dirty="0"/>
          </a:p>
        </p:txBody>
      </p:sp>
      <p:sp>
        <p:nvSpPr>
          <p:cNvPr id="7" name="Chiffre 5,3 ms"/>
          <p:cNvSpPr txBox="1"/>
          <p:nvPr/>
        </p:nvSpPr>
        <p:spPr>
          <a:xfrm>
            <a:off x="6217920" y="1554480"/>
            <a:ext cx="5394960" cy="868680"/>
          </a:xfrm>
          <a:prstGeom prst="rect">
            <a:avLst/>
          </a:prstGeom>
          <a:noFill/>
          <a:ln/>
        </p:spPr>
        <p:txBody>
          <a:bodyPr wrap="square" lIns="0" tIns="0" rIns="0" bIns="0" rtlCol="0" anchor="ctr"/>
          <a:lstStyle/>
          <a:p>
            <a:pPr indent="0" marL="0">
              <a:buNone/>
            </a:pPr>
            <a:r>
              <a:rPr lang="en-US" sz="5200" b="1" dirty="0">
                <a:solidFill>
                  <a:schemeClr val="accent1"/>
                </a:solidFill>
              </a:rPr>
              <a:t>5,3 ms</a:t>
            </a:r>
            <a:endParaRPr lang="en-US" sz="5200" dirty="0"/>
          </a:p>
        </p:txBody>
      </p:sp>
      <p:sp>
        <p:nvSpPr>
          <p:cNvPr id="8" name="Légende 5,3 ms"/>
          <p:cNvSpPr txBox="1"/>
          <p:nvPr/>
        </p:nvSpPr>
        <p:spPr>
          <a:xfrm>
            <a:off x="6217920" y="2423160"/>
            <a:ext cx="5394960" cy="640080"/>
          </a:xfrm>
          <a:prstGeom prst="rect">
            <a:avLst/>
          </a:prstGeom>
          <a:noFill/>
          <a:ln/>
        </p:spPr>
        <p:txBody>
          <a:bodyPr wrap="square" lIns="0" tIns="0" rIns="0" bIns="0" rtlCol="0" anchor="t"/>
          <a:lstStyle/>
          <a:p>
            <a:pPr indent="0" marL="0">
              <a:buNone/>
            </a:pPr>
            <a:r>
              <a:rPr lang="en-US" sz="1600" dirty="0">
                <a:solidFill>
                  <a:schemeClr val="tx1"/>
                </a:solidFill>
              </a:rPr>
              <a:t>Ping moyen client → web, 0 % de perte</a:t>
            </a:r>
            <a:endParaRPr lang="en-US" sz="1600" dirty="0"/>
          </a:p>
        </p:txBody>
      </p:sp>
      <p:sp>
        <p:nvSpPr>
          <p:cNvPr id="9" name="Capture ping Windows (cadre)"/>
          <p:cNvSpPr/>
          <p:nvPr/>
        </p:nvSpPr>
        <p:spPr>
          <a:xfrm>
            <a:off x="6172200" y="3749040"/>
            <a:ext cx="5486400" cy="1459058"/>
          </a:xfrm>
          <a:prstGeom prst="rect">
            <a:avLst/>
          </a:prstGeom>
          <a:solidFill>
            <a:schemeClr val="bg1"/>
          </a:solidFill>
          <a:ln w="9525">
            <a:solidFill>
              <a:srgbClr val="8FB8C4"/>
            </a:solidFill>
            <a:prstDash val="solid"/>
          </a:ln>
          <a:effectLst>
            <a:outerShdw sx="100000" sy="100000" kx="0" ky="0" algn="bl" rotWithShape="0" blurRad="76200" dist="25400" dir="5400000">
              <a:srgbClr val="000000">
                <a:alpha val="18000"/>
              </a:srgbClr>
            </a:outerShdw>
          </a:effectLst>
        </p:spPr>
      </p:sp>
      <p:pic>
        <p:nvPicPr>
          <p:cNvPr id="10" name="Capture ping Windows" descr="Ping depuis Windows vers 10.10.0.10 : 100 % de perte">    </p:cNvPr>
          <p:cNvPicPr>
            <a:picLocks noChangeAspect="1"/>
          </p:cNvPicPr>
          <p:nvPr/>
        </p:nvPicPr>
        <p:blipFill>
          <a:blip r:embed="rId2"/>
          <a:stretch>
            <a:fillRect/>
          </a:stretch>
        </p:blipFill>
        <p:spPr>
          <a:xfrm>
            <a:off x="6217920" y="3794760"/>
            <a:ext cx="5394960" cy="1367618"/>
          </a:xfrm>
          <a:prstGeom prst="rect">
            <a:avLst/>
          </a:prstGeom>
        </p:spPr>
      </p:pic>
      <p:sp>
        <p:nvSpPr>
          <p:cNvPr id="11" name="Conclusion ping Windows"/>
          <p:cNvSpPr txBox="1"/>
          <p:nvPr/>
        </p:nvSpPr>
        <p:spPr>
          <a:xfrm>
            <a:off x="6217920" y="5345258"/>
            <a:ext cx="5394960" cy="731520"/>
          </a:xfrm>
          <a:prstGeom prst="rect">
            <a:avLst/>
          </a:prstGeom>
          <a:noFill/>
          <a:ln/>
        </p:spPr>
        <p:txBody>
          <a:bodyPr wrap="square" lIns="0" tIns="0" rIns="0" bIns="0" rtlCol="0" anchor="t"/>
          <a:lstStyle/>
          <a:p>
            <a:pPr indent="0" marL="0">
              <a:buNone/>
            </a:pPr>
            <a:r>
              <a:rPr lang="en-US" sz="1600" b="1" dirty="0">
                <a:solidFill>
                  <a:schemeClr val="accent4"/>
                </a:solidFill>
              </a:rPr>
              <a:t>Windows : 100 % de perte. L’hôte n’atteint web que par redirection de port.</a:t>
            </a:r>
            <a:endParaRPr lang="en-US" sz="16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C6B7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Repère de partie"/>
          <p:cNvSpPr txBox="1"/>
          <p:nvPr/>
        </p:nvSpPr>
        <p:spPr>
          <a:xfrm>
            <a:off x="548640" y="274320"/>
            <a:ext cx="8229600" cy="274320"/>
          </a:xfrm>
          <a:prstGeom prst="rect">
            <a:avLst/>
          </a:prstGeom>
          <a:noFill/>
          <a:ln/>
        </p:spPr>
        <p:txBody>
          <a:bodyPr wrap="square" lIns="0" tIns="0" rIns="0" bIns="0" rtlCol="0" anchor="t"/>
          <a:lstStyle/>
          <a:p>
            <a:pPr indent="0" marL="0">
              <a:buNone/>
            </a:pPr>
            <a:r>
              <a:rPr lang="en-US" sz="1200" b="1" spc="200" kern="0" dirty="0">
                <a:solidFill>
                  <a:schemeClr val="accent1"/>
                </a:solidFill>
              </a:rPr>
              <a:t>PARTIE 3 · PUBLICATION</a:t>
            </a:r>
            <a:endParaRPr lang="en-US" sz="1200" dirty="0"/>
          </a:p>
        </p:txBody>
      </p:sp>
      <p:sp>
        <p:nvSpPr>
          <p:cNvPr id="3" name="Text 0"/>
          <p:cNvSpPr/>
          <p:nvPr>
            <p:ph idx="100" type="title" hasCustomPrompt="1"/>
          </p:nvPr>
        </p:nvSpPr>
        <p:spPr>
          <a:xfrm>
            <a:off x="548640" y="566928"/>
            <a:ext cx="11064240" cy="777240"/>
          </a:xfrm>
          <a:prstGeom prst="rect">
            <a:avLst/>
          </a:prstGeom>
          <a:noFill/>
          <a:ln/>
        </p:spPr>
        <p:txBody>
          <a:bodyPr wrap="square" lIns="0" tIns="0" rIns="0" bIns="0" rtlCol="0" anchor="ctr"/>
          <a:lstStyle/>
          <a:p>
            <a:pPr algn="l" indent="0" marL="0">
              <a:buNone/>
            </a:pPr>
            <a:r>
              <a:rPr lang="en-US" sz="3400" b="1" dirty="0">
                <a:solidFill>
                  <a:schemeClr val="tx2"/>
                </a:solidFill>
              </a:rPr>
              <a:t>Nginx publie la page du groupe</a:t>
            </a:r>
            <a:endParaRPr lang="en-US" sz="3400" dirty="0"/>
          </a:p>
        </p:txBody>
      </p:sp>
      <p:sp>
        <p:nvSpPr>
          <p:cNvPr id="4" name="Capture navigateur avant pare-feu (cadre)"/>
          <p:cNvSpPr/>
          <p:nvPr/>
        </p:nvSpPr>
        <p:spPr>
          <a:xfrm>
            <a:off x="502920" y="1554480"/>
            <a:ext cx="5788855" cy="2377440"/>
          </a:xfrm>
          <a:prstGeom prst="rect">
            <a:avLst/>
          </a:prstGeom>
          <a:solidFill>
            <a:schemeClr val="bg1"/>
          </a:solidFill>
          <a:ln w="9525">
            <a:solidFill>
              <a:srgbClr val="8FB8C4"/>
            </a:solidFill>
            <a:prstDash val="solid"/>
          </a:ln>
          <a:effectLst>
            <a:outerShdw sx="100000" sy="100000" kx="0" ky="0" algn="bl" rotWithShape="0" blurRad="76200" dist="25400" dir="5400000">
              <a:srgbClr val="000000">
                <a:alpha val="18000"/>
              </a:srgbClr>
            </a:outerShdw>
          </a:effectLst>
        </p:spPr>
      </p:sp>
      <p:pic>
        <p:nvPicPr>
          <p:cNvPr id="5" name="Capture navigateur avant pare-feu" descr="Navigateur sur 127.0.0.1:8080 affichant la page du groupe">    </p:cNvPr>
          <p:cNvPicPr>
            <a:picLocks noChangeAspect="1"/>
          </p:cNvPicPr>
          <p:nvPr/>
        </p:nvPicPr>
        <p:blipFill>
          <a:blip r:embed="rId1"/>
          <a:stretch>
            <a:fillRect/>
          </a:stretch>
        </p:blipFill>
        <p:spPr>
          <a:xfrm>
            <a:off x="548640" y="1600200"/>
            <a:ext cx="5697415" cy="2286000"/>
          </a:xfrm>
          <a:prstGeom prst="rect">
            <a:avLst/>
          </a:prstGeom>
        </p:spPr>
      </p:pic>
      <p:sp>
        <p:nvSpPr>
          <p:cNvPr id="6" name="Légende image"/>
          <p:cNvSpPr txBox="1"/>
          <p:nvPr/>
        </p:nvSpPr>
        <p:spPr>
          <a:xfrm>
            <a:off x="548640" y="4023360"/>
            <a:ext cx="6400800" cy="274320"/>
          </a:xfrm>
          <a:prstGeom prst="rect">
            <a:avLst/>
          </a:prstGeom>
          <a:noFill/>
          <a:ln/>
        </p:spPr>
        <p:txBody>
          <a:bodyPr wrap="square" lIns="0" tIns="0" rIns="0" bIns="0" rtlCol="0" anchor="t"/>
          <a:lstStyle/>
          <a:p>
            <a:pPr indent="0" marL="0">
              <a:buNone/>
            </a:pPr>
            <a:r>
              <a:rPr lang="en-US" sz="1100" i="1" dirty="0">
                <a:solidFill>
                  <a:schemeClr val="accent5"/>
                </a:solidFill>
              </a:rPr>
              <a:t>Navigateur de l’hôte : http://127.0.0.1:8080</a:t>
            </a:r>
            <a:endParaRPr lang="en-US" sz="1100" dirty="0"/>
          </a:p>
        </p:txBody>
      </p:sp>
      <p:sp>
        <p:nvSpPr>
          <p:cNvPr id="7" name="Capture curl avant pare-feu (cadre)"/>
          <p:cNvSpPr/>
          <p:nvPr/>
        </p:nvSpPr>
        <p:spPr>
          <a:xfrm>
            <a:off x="502920" y="4526280"/>
            <a:ext cx="6492240" cy="1338263"/>
          </a:xfrm>
          <a:prstGeom prst="rect">
            <a:avLst/>
          </a:prstGeom>
          <a:solidFill>
            <a:schemeClr val="bg1"/>
          </a:solidFill>
          <a:ln w="9525">
            <a:solidFill>
              <a:srgbClr val="8FB8C4"/>
            </a:solidFill>
            <a:prstDash val="solid"/>
          </a:ln>
          <a:effectLst>
            <a:outerShdw sx="100000" sy="100000" kx="0" ky="0" algn="bl" rotWithShape="0" blurRad="76200" dist="25400" dir="5400000">
              <a:srgbClr val="000000">
                <a:alpha val="18000"/>
              </a:srgbClr>
            </a:outerShdw>
          </a:effectLst>
        </p:spPr>
      </p:sp>
      <p:pic>
        <p:nvPicPr>
          <p:cNvPr id="8" name="Capture curl avant pare-feu" descr="curl depuis client : la page s'affiche">    </p:cNvPr>
          <p:cNvPicPr>
            <a:picLocks noChangeAspect="1"/>
          </p:cNvPicPr>
          <p:nvPr/>
        </p:nvPicPr>
        <p:blipFill>
          <a:blip r:embed="rId2"/>
          <a:stretch>
            <a:fillRect/>
          </a:stretch>
        </p:blipFill>
        <p:spPr>
          <a:xfrm>
            <a:off x="548640" y="4572000"/>
            <a:ext cx="6400800" cy="1246823"/>
          </a:xfrm>
          <a:prstGeom prst="rect">
            <a:avLst/>
          </a:prstGeom>
        </p:spPr>
      </p:pic>
      <p:sp>
        <p:nvSpPr>
          <p:cNvPr id="9" name="Légende image"/>
          <p:cNvSpPr txBox="1"/>
          <p:nvPr/>
        </p:nvSpPr>
        <p:spPr>
          <a:xfrm>
            <a:off x="548640" y="5955983"/>
            <a:ext cx="6400800" cy="274320"/>
          </a:xfrm>
          <a:prstGeom prst="rect">
            <a:avLst/>
          </a:prstGeom>
          <a:noFill/>
          <a:ln/>
        </p:spPr>
        <p:txBody>
          <a:bodyPr wrap="square" lIns="0" tIns="0" rIns="0" bIns="0" rtlCol="0" anchor="t"/>
          <a:lstStyle/>
          <a:p>
            <a:pPr indent="0" marL="0">
              <a:buNone/>
            </a:pPr>
            <a:r>
              <a:rPr lang="en-US" sz="1100" i="1" dirty="0">
                <a:solidFill>
                  <a:schemeClr val="accent5"/>
                </a:solidFill>
              </a:rPr>
              <a:t>curl depuis client : la même page</a:t>
            </a:r>
            <a:endParaRPr lang="en-US" sz="1100" dirty="0"/>
          </a:p>
        </p:txBody>
      </p:sp>
      <p:sp>
        <p:nvSpPr>
          <p:cNvPr id="10" name="Carte service"/>
          <p:cNvSpPr/>
          <p:nvPr/>
        </p:nvSpPr>
        <p:spPr>
          <a:xfrm>
            <a:off x="7406640" y="1600200"/>
            <a:ext cx="4206240" cy="2011680"/>
          </a:xfrm>
          <a:prstGeom prst="roundRect">
            <a:avLst>
              <a:gd name="adj" fmla="val 5455"/>
            </a:avLst>
          </a:prstGeom>
          <a:solidFill>
            <a:schemeClr val="bg2"/>
          </a:solidFill>
          <a:ln/>
        </p:spPr>
      </p:sp>
      <p:sp>
        <p:nvSpPr>
          <p:cNvPr id="11" name="Carte service titre"/>
          <p:cNvSpPr txBox="1"/>
          <p:nvPr/>
        </p:nvSpPr>
        <p:spPr>
          <a:xfrm>
            <a:off x="7635240" y="1737360"/>
            <a:ext cx="3749040" cy="365760"/>
          </a:xfrm>
          <a:prstGeom prst="rect">
            <a:avLst/>
          </a:prstGeom>
          <a:noFill/>
          <a:ln/>
        </p:spPr>
        <p:txBody>
          <a:bodyPr wrap="square" lIns="0" tIns="0" rIns="0" bIns="0" rtlCol="0" anchor="t"/>
          <a:lstStyle/>
          <a:p>
            <a:pPr indent="0" marL="0">
              <a:buNone/>
            </a:pPr>
            <a:r>
              <a:rPr lang="en-US" sz="1800" b="1" dirty="0">
                <a:solidFill>
                  <a:schemeClr val="accent1"/>
                </a:solidFill>
              </a:rPr>
              <a:t>Service actif</a:t>
            </a:r>
            <a:endParaRPr lang="en-US" sz="1800" dirty="0"/>
          </a:p>
        </p:txBody>
      </p:sp>
      <p:sp>
        <p:nvSpPr>
          <p:cNvPr id="12" name="Carte service texte"/>
          <p:cNvSpPr txBox="1"/>
          <p:nvPr/>
        </p:nvSpPr>
        <p:spPr>
          <a:xfrm>
            <a:off x="7635240" y="2148840"/>
            <a:ext cx="3749040" cy="1325880"/>
          </a:xfrm>
          <a:prstGeom prst="rect">
            <a:avLst/>
          </a:prstGeom>
          <a:noFill/>
          <a:ln/>
        </p:spPr>
        <p:txBody>
          <a:bodyPr wrap="square" lIns="0" tIns="0" rIns="0" bIns="0" rtlCol="0" anchor="t"/>
          <a:lstStyle/>
          <a:p>
            <a:pPr indent="0" marL="0">
              <a:buNone/>
            </a:pPr>
            <a:r>
              <a:rPr lang="en-US" sz="1500" dirty="0">
                <a:solidFill>
                  <a:schemeClr val="tx1"/>
                </a:solidFill>
              </a:rPr>
              <a:t>systemctl status nginx</a:t>
            </a:r>
            <a:endParaRPr lang="en-US" sz="1500" dirty="0"/>
          </a:p>
          <a:p>
            <a:pPr indent="0" marL="0">
              <a:buNone/>
            </a:pPr>
            <a:r>
              <a:rPr lang="en-US" sz="1500" dirty="0">
                <a:solidFill>
                  <a:schemeClr val="tx1"/>
                </a:solidFill>
              </a:rPr>
              <a:t>→ active (running)</a:t>
            </a:r>
            <a:endParaRPr lang="en-US" sz="1500" dirty="0"/>
          </a:p>
        </p:txBody>
      </p:sp>
      <p:sp>
        <p:nvSpPr>
          <p:cNvPr id="13" name="Carte accès"/>
          <p:cNvSpPr/>
          <p:nvPr/>
        </p:nvSpPr>
        <p:spPr>
          <a:xfrm>
            <a:off x="7406640" y="3794760"/>
            <a:ext cx="4206240" cy="2377440"/>
          </a:xfrm>
          <a:prstGeom prst="roundRect">
            <a:avLst>
              <a:gd name="adj" fmla="val 4615"/>
            </a:avLst>
          </a:prstGeom>
          <a:solidFill>
            <a:schemeClr val="bg2"/>
          </a:solidFill>
          <a:ln/>
        </p:spPr>
      </p:sp>
      <p:sp>
        <p:nvSpPr>
          <p:cNvPr id="14" name="Carte accès titre"/>
          <p:cNvSpPr txBox="1"/>
          <p:nvPr/>
        </p:nvSpPr>
        <p:spPr>
          <a:xfrm>
            <a:off x="7635240" y="3931920"/>
            <a:ext cx="3749040" cy="365760"/>
          </a:xfrm>
          <a:prstGeom prst="rect">
            <a:avLst/>
          </a:prstGeom>
          <a:noFill/>
          <a:ln/>
        </p:spPr>
        <p:txBody>
          <a:bodyPr wrap="square" lIns="0" tIns="0" rIns="0" bIns="0" rtlCol="0" anchor="t"/>
          <a:lstStyle/>
          <a:p>
            <a:pPr indent="0" marL="0">
              <a:buNone/>
            </a:pPr>
            <a:r>
              <a:rPr lang="en-US" sz="1800" b="1" dirty="0">
                <a:solidFill>
                  <a:schemeClr val="accent1"/>
                </a:solidFill>
              </a:rPr>
              <a:t>Deux chemins d’accès</a:t>
            </a:r>
            <a:endParaRPr lang="en-US" sz="1800" dirty="0"/>
          </a:p>
        </p:txBody>
      </p:sp>
      <p:sp>
        <p:nvSpPr>
          <p:cNvPr id="15" name="Carte accès texte"/>
          <p:cNvSpPr txBox="1"/>
          <p:nvPr/>
        </p:nvSpPr>
        <p:spPr>
          <a:xfrm>
            <a:off x="7635240" y="4343400"/>
            <a:ext cx="3749040" cy="1691640"/>
          </a:xfrm>
          <a:prstGeom prst="rect">
            <a:avLst/>
          </a:prstGeom>
          <a:noFill/>
          <a:ln/>
        </p:spPr>
        <p:txBody>
          <a:bodyPr wrap="square" lIns="0" tIns="0" rIns="0" bIns="0" rtlCol="0" anchor="t"/>
          <a:lstStyle/>
          <a:p>
            <a:pPr indent="0" marL="0">
              <a:buNone/>
            </a:pPr>
            <a:r>
              <a:rPr lang="en-US" sz="1500" dirty="0">
                <a:solidFill>
                  <a:schemeClr val="tx1"/>
                </a:solidFill>
              </a:rPr>
              <a:t>Depuis client : http://web</a:t>
            </a:r>
            <a:endParaRPr lang="en-US" sz="1500" dirty="0"/>
          </a:p>
          <a:p>
            <a:pPr indent="0" marL="0">
              <a:buNone/>
            </a:pPr>
            <a:r>
              <a:rPr lang="en-US" sz="1500" dirty="0">
                <a:solidFill>
                  <a:schemeClr val="tx1"/>
                </a:solidFill>
              </a:rPr>
              <a:t>Depuis l’hôte : redirection 8080 → web:80</a:t>
            </a:r>
            <a:endParaRPr lang="en-US" sz="15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C6B75"/>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Repère de partie"/>
          <p:cNvSpPr txBox="1"/>
          <p:nvPr/>
        </p:nvSpPr>
        <p:spPr>
          <a:xfrm>
            <a:off x="548640" y="274320"/>
            <a:ext cx="8229600" cy="274320"/>
          </a:xfrm>
          <a:prstGeom prst="rect">
            <a:avLst/>
          </a:prstGeom>
          <a:noFill/>
          <a:ln/>
        </p:spPr>
        <p:txBody>
          <a:bodyPr wrap="square" lIns="0" tIns="0" rIns="0" bIns="0" rtlCol="0" anchor="t"/>
          <a:lstStyle/>
          <a:p>
            <a:pPr indent="0" marL="0">
              <a:buNone/>
            </a:pPr>
            <a:r>
              <a:rPr lang="en-US" sz="1200" b="1" spc="200" kern="0" dirty="0">
                <a:solidFill>
                  <a:schemeClr val="accent1"/>
                </a:solidFill>
              </a:rPr>
              <a:t>PARTIE 3 · PARE-FEU</a:t>
            </a:r>
            <a:endParaRPr lang="en-US" sz="1200" dirty="0"/>
          </a:p>
        </p:txBody>
      </p:sp>
      <p:sp>
        <p:nvSpPr>
          <p:cNvPr id="3" name="Text 0"/>
          <p:cNvSpPr/>
          <p:nvPr>
            <p:ph idx="100" type="title" hasCustomPrompt="1"/>
          </p:nvPr>
        </p:nvSpPr>
        <p:spPr>
          <a:xfrm>
            <a:off x="548640" y="566928"/>
            <a:ext cx="11064240" cy="777240"/>
          </a:xfrm>
          <a:prstGeom prst="rect">
            <a:avLst/>
          </a:prstGeom>
          <a:noFill/>
          <a:ln/>
        </p:spPr>
        <p:txBody>
          <a:bodyPr wrap="square" lIns="0" tIns="0" rIns="0" bIns="0" rtlCol="0" anchor="ctr"/>
          <a:lstStyle/>
          <a:p>
            <a:pPr algn="l" indent="0" marL="0">
              <a:buNone/>
            </a:pPr>
            <a:r>
              <a:rPr lang="en-US" sz="3400" b="1" dirty="0">
                <a:solidFill>
                  <a:schemeClr val="tx2"/>
                </a:solidFill>
              </a:rPr>
              <a:t>ufw ferme le port 80</a:t>
            </a:r>
            <a:endParaRPr lang="en-US" sz="3400" dirty="0"/>
          </a:p>
        </p:txBody>
      </p:sp>
      <p:sp>
        <p:nvSpPr>
          <p:cNvPr id="4" name="Capture ufw OpenSSH seul (cadre)"/>
          <p:cNvSpPr/>
          <p:nvPr/>
        </p:nvSpPr>
        <p:spPr>
          <a:xfrm>
            <a:off x="502920" y="1554480"/>
            <a:ext cx="5577840" cy="2000250"/>
          </a:xfrm>
          <a:prstGeom prst="rect">
            <a:avLst/>
          </a:prstGeom>
          <a:solidFill>
            <a:schemeClr val="bg1"/>
          </a:solidFill>
          <a:ln w="9525">
            <a:solidFill>
              <a:srgbClr val="8FB8C4"/>
            </a:solidFill>
            <a:prstDash val="solid"/>
          </a:ln>
          <a:effectLst>
            <a:outerShdw sx="100000" sy="100000" kx="0" ky="0" algn="bl" rotWithShape="0" blurRad="76200" dist="25400" dir="5400000">
              <a:srgbClr val="000000">
                <a:alpha val="18000"/>
              </a:srgbClr>
            </a:outerShdw>
          </a:effectLst>
        </p:spPr>
      </p:sp>
      <p:pic>
        <p:nvPicPr>
          <p:cNvPr id="5" name="Capture ufw OpenSSH seul" descr="ufw status verbose : actif, seule la règle OpenSSH">    </p:cNvPr>
          <p:cNvPicPr>
            <a:picLocks noChangeAspect="1"/>
          </p:cNvPicPr>
          <p:nvPr/>
        </p:nvPicPr>
        <p:blipFill>
          <a:blip r:embed="rId1"/>
          <a:stretch>
            <a:fillRect/>
          </a:stretch>
        </p:blipFill>
        <p:spPr>
          <a:xfrm>
            <a:off x="548640" y="1600200"/>
            <a:ext cx="5486400" cy="1908810"/>
          </a:xfrm>
          <a:prstGeom prst="rect">
            <a:avLst/>
          </a:prstGeom>
        </p:spPr>
      </p:pic>
      <p:sp>
        <p:nvSpPr>
          <p:cNvPr id="6" name="Légende image"/>
          <p:cNvSpPr txBox="1"/>
          <p:nvPr/>
        </p:nvSpPr>
        <p:spPr>
          <a:xfrm>
            <a:off x="548640" y="3600450"/>
            <a:ext cx="5486400" cy="274320"/>
          </a:xfrm>
          <a:prstGeom prst="rect">
            <a:avLst/>
          </a:prstGeom>
          <a:noFill/>
          <a:ln/>
        </p:spPr>
        <p:txBody>
          <a:bodyPr wrap="square" lIns="0" tIns="0" rIns="0" bIns="0" rtlCol="0" anchor="t"/>
          <a:lstStyle/>
          <a:p>
            <a:pPr indent="0" marL="0">
              <a:buNone/>
            </a:pPr>
            <a:r>
              <a:rPr lang="en-US" sz="1100" i="1" dirty="0">
                <a:solidFill>
                  <a:schemeClr val="accent5"/>
                </a:solidFill>
              </a:rPr>
              <a:t>Seul OpenSSH est autorisé (politique deny en entrée)</a:t>
            </a:r>
            <a:endParaRPr lang="en-US" sz="1100" dirty="0"/>
          </a:p>
        </p:txBody>
      </p:sp>
      <p:sp>
        <p:nvSpPr>
          <p:cNvPr id="7" name="Capture curl bloqué (cadre)"/>
          <p:cNvSpPr/>
          <p:nvPr/>
        </p:nvSpPr>
        <p:spPr>
          <a:xfrm>
            <a:off x="502920" y="4011930"/>
            <a:ext cx="5577840" cy="1115022"/>
          </a:xfrm>
          <a:prstGeom prst="rect">
            <a:avLst/>
          </a:prstGeom>
          <a:solidFill>
            <a:schemeClr val="bg1"/>
          </a:solidFill>
          <a:ln w="9525">
            <a:solidFill>
              <a:srgbClr val="8FB8C4"/>
            </a:solidFill>
            <a:prstDash val="solid"/>
          </a:ln>
          <a:effectLst>
            <a:outerShdw sx="100000" sy="100000" kx="0" ky="0" algn="bl" rotWithShape="0" blurRad="76200" dist="25400" dir="5400000">
              <a:srgbClr val="000000">
                <a:alpha val="18000"/>
              </a:srgbClr>
            </a:outerShdw>
          </a:effectLst>
        </p:spPr>
      </p:sp>
      <p:pic>
        <p:nvPicPr>
          <p:cNvPr id="8" name="Capture curl bloqué" descr="curl expire après 5001 ms, code retour 28">    </p:cNvPr>
          <p:cNvPicPr>
            <a:picLocks noChangeAspect="1"/>
          </p:cNvPicPr>
          <p:nvPr/>
        </p:nvPicPr>
        <p:blipFill>
          <a:blip r:embed="rId2"/>
          <a:stretch>
            <a:fillRect/>
          </a:stretch>
        </p:blipFill>
        <p:spPr>
          <a:xfrm>
            <a:off x="548640" y="4057650"/>
            <a:ext cx="5486400" cy="1023582"/>
          </a:xfrm>
          <a:prstGeom prst="rect">
            <a:avLst/>
          </a:prstGeom>
        </p:spPr>
      </p:pic>
      <p:sp>
        <p:nvSpPr>
          <p:cNvPr id="9" name="Légende image"/>
          <p:cNvSpPr txBox="1"/>
          <p:nvPr/>
        </p:nvSpPr>
        <p:spPr>
          <a:xfrm>
            <a:off x="548640" y="5172672"/>
            <a:ext cx="5486400" cy="274320"/>
          </a:xfrm>
          <a:prstGeom prst="rect">
            <a:avLst/>
          </a:prstGeom>
          <a:noFill/>
          <a:ln/>
        </p:spPr>
        <p:txBody>
          <a:bodyPr wrap="square" lIns="0" tIns="0" rIns="0" bIns="0" rtlCol="0" anchor="t"/>
          <a:lstStyle/>
          <a:p>
            <a:pPr indent="0" marL="0">
              <a:buNone/>
            </a:pPr>
            <a:r>
              <a:rPr lang="en-US" sz="1100" i="1" dirty="0">
                <a:solidFill>
                  <a:schemeClr val="accent5"/>
                </a:solidFill>
              </a:rPr>
              <a:t>curl : délai dépassé, code retour 28</a:t>
            </a:r>
            <a:endParaRPr lang="en-US" sz="1100" dirty="0"/>
          </a:p>
        </p:txBody>
      </p:sp>
      <p:sp>
        <p:nvSpPr>
          <p:cNvPr id="10" name="Explication blocage"/>
          <p:cNvSpPr txBox="1"/>
          <p:nvPr/>
        </p:nvSpPr>
        <p:spPr>
          <a:xfrm>
            <a:off x="548640" y="5629872"/>
            <a:ext cx="5486400" cy="731520"/>
          </a:xfrm>
          <a:prstGeom prst="rect">
            <a:avLst/>
          </a:prstGeom>
          <a:noFill/>
          <a:ln/>
        </p:spPr>
        <p:txBody>
          <a:bodyPr wrap="square" lIns="0" tIns="0" rIns="0" bIns="0" rtlCol="0" anchor="t"/>
          <a:lstStyle/>
          <a:p>
            <a:pPr indent="0" marL="0">
              <a:buNone/>
            </a:pPr>
            <a:r>
              <a:rPr lang="en-US" sz="1600" b="1" dirty="0">
                <a:solidFill>
                  <a:schemeClr val="accent4"/>
                </a:solidFill>
              </a:rPr>
              <a:t>Les paquets sont ignorés : aucune réponse, donc le client attend.</a:t>
            </a:r>
            <a:endParaRPr lang="en-US" sz="1600" dirty="0"/>
          </a:p>
        </p:txBody>
      </p:sp>
      <p:sp>
        <p:nvSpPr>
          <p:cNvPr id="11" name="Capture navigateur bloqué (cadre)"/>
          <p:cNvSpPr/>
          <p:nvPr/>
        </p:nvSpPr>
        <p:spPr>
          <a:xfrm>
            <a:off x="6446520" y="1554480"/>
            <a:ext cx="5212080" cy="3837448"/>
          </a:xfrm>
          <a:prstGeom prst="rect">
            <a:avLst/>
          </a:prstGeom>
          <a:solidFill>
            <a:schemeClr val="bg1"/>
          </a:solidFill>
          <a:ln w="9525">
            <a:solidFill>
              <a:srgbClr val="8FB8C4"/>
            </a:solidFill>
            <a:prstDash val="solid"/>
          </a:ln>
          <a:effectLst>
            <a:outerShdw sx="100000" sy="100000" kx="0" ky="0" algn="bl" rotWithShape="0" blurRad="76200" dist="25400" dir="5400000">
              <a:srgbClr val="000000">
                <a:alpha val="18000"/>
              </a:srgbClr>
            </a:outerShdw>
          </a:effectLst>
        </p:spPr>
      </p:sp>
      <p:pic>
        <p:nvPicPr>
          <p:cNvPr id="12" name="Capture navigateur bloqué" descr="Navigateur : ERR_CONNECTION_RESET, page inaccessible">    </p:cNvPr>
          <p:cNvPicPr>
            <a:picLocks noChangeAspect="1"/>
          </p:cNvPicPr>
          <p:nvPr/>
        </p:nvPicPr>
        <p:blipFill>
          <a:blip r:embed="rId3"/>
          <a:stretch>
            <a:fillRect/>
          </a:stretch>
        </p:blipFill>
        <p:spPr>
          <a:xfrm>
            <a:off x="6492240" y="1600200"/>
            <a:ext cx="5120640" cy="3746008"/>
          </a:xfrm>
          <a:prstGeom prst="rect">
            <a:avLst/>
          </a:prstGeom>
        </p:spPr>
      </p:pic>
      <p:sp>
        <p:nvSpPr>
          <p:cNvPr id="13" name="Légende image"/>
          <p:cNvSpPr txBox="1"/>
          <p:nvPr/>
        </p:nvSpPr>
        <p:spPr>
          <a:xfrm>
            <a:off x="6492240" y="5483368"/>
            <a:ext cx="5120640" cy="274320"/>
          </a:xfrm>
          <a:prstGeom prst="rect">
            <a:avLst/>
          </a:prstGeom>
          <a:noFill/>
          <a:ln/>
        </p:spPr>
        <p:txBody>
          <a:bodyPr wrap="square" lIns="0" tIns="0" rIns="0" bIns="0" rtlCol="0" anchor="t"/>
          <a:lstStyle/>
          <a:p>
            <a:pPr indent="0" marL="0">
              <a:buNone/>
            </a:pPr>
            <a:r>
              <a:rPr lang="en-US" sz="1100" i="1" dirty="0">
                <a:solidFill>
                  <a:schemeClr val="accent5"/>
                </a:solidFill>
              </a:rPr>
              <a:t>Navigateur : ERR_CONNECTION_RESET</a:t>
            </a:r>
            <a:endParaRPr lang="en-US" sz="11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C6B75"/>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Repère de partie"/>
          <p:cNvSpPr txBox="1"/>
          <p:nvPr/>
        </p:nvSpPr>
        <p:spPr>
          <a:xfrm>
            <a:off x="548640" y="274320"/>
            <a:ext cx="8229600" cy="274320"/>
          </a:xfrm>
          <a:prstGeom prst="rect">
            <a:avLst/>
          </a:prstGeom>
          <a:noFill/>
          <a:ln/>
        </p:spPr>
        <p:txBody>
          <a:bodyPr wrap="square" lIns="0" tIns="0" rIns="0" bIns="0" rtlCol="0" anchor="t"/>
          <a:lstStyle/>
          <a:p>
            <a:pPr indent="0" marL="0">
              <a:buNone/>
            </a:pPr>
            <a:r>
              <a:rPr lang="en-US" sz="1200" b="1" spc="200" kern="0" dirty="0">
                <a:solidFill>
                  <a:schemeClr val="accent1"/>
                </a:solidFill>
              </a:rPr>
              <a:t>PARTIE 3 · PARE-FEU</a:t>
            </a:r>
            <a:endParaRPr lang="en-US" sz="1200" dirty="0"/>
          </a:p>
        </p:txBody>
      </p:sp>
      <p:sp>
        <p:nvSpPr>
          <p:cNvPr id="3" name="Text 0"/>
          <p:cNvSpPr/>
          <p:nvPr>
            <p:ph idx="100" type="title" hasCustomPrompt="1"/>
          </p:nvPr>
        </p:nvSpPr>
        <p:spPr>
          <a:xfrm>
            <a:off x="548640" y="566928"/>
            <a:ext cx="11064240" cy="777240"/>
          </a:xfrm>
          <a:prstGeom prst="rect">
            <a:avLst/>
          </a:prstGeom>
          <a:noFill/>
          <a:ln/>
        </p:spPr>
        <p:txBody>
          <a:bodyPr wrap="square" lIns="0" tIns="0" rIns="0" bIns="0" rtlCol="0" anchor="ctr"/>
          <a:lstStyle/>
          <a:p>
            <a:pPr algn="l" indent="0" marL="0">
              <a:buNone/>
            </a:pPr>
            <a:r>
              <a:rPr lang="en-US" sz="3400" b="1" dirty="0">
                <a:solidFill>
                  <a:schemeClr val="tx2"/>
                </a:solidFill>
              </a:rPr>
              <a:t>Port 80 ouvert : la page revient</a:t>
            </a:r>
            <a:endParaRPr lang="en-US" sz="3400" dirty="0"/>
          </a:p>
        </p:txBody>
      </p:sp>
      <p:sp>
        <p:nvSpPr>
          <p:cNvPr id="4" name="Capture règles ufw et ports (cadre)"/>
          <p:cNvSpPr/>
          <p:nvPr/>
        </p:nvSpPr>
        <p:spPr>
          <a:xfrm>
            <a:off x="502920" y="1554480"/>
            <a:ext cx="6309360" cy="4021324"/>
          </a:xfrm>
          <a:prstGeom prst="rect">
            <a:avLst/>
          </a:prstGeom>
          <a:solidFill>
            <a:schemeClr val="bg1"/>
          </a:solidFill>
          <a:ln w="9525">
            <a:solidFill>
              <a:srgbClr val="8FB8C4"/>
            </a:solidFill>
            <a:prstDash val="solid"/>
          </a:ln>
          <a:effectLst>
            <a:outerShdw sx="100000" sy="100000" kx="0" ky="0" algn="bl" rotWithShape="0" blurRad="76200" dist="25400" dir="5400000">
              <a:srgbClr val="000000">
                <a:alpha val="18000"/>
              </a:srgbClr>
            </a:outerShdw>
          </a:effectLst>
        </p:spPr>
      </p:sp>
      <p:pic>
        <p:nvPicPr>
          <p:cNvPr id="5" name="Capture règles ufw et ports" descr="ufw status numbered et ss -tlnp : nginx écoute sur le port 80">    </p:cNvPr>
          <p:cNvPicPr>
            <a:picLocks noChangeAspect="1"/>
          </p:cNvPicPr>
          <p:nvPr/>
        </p:nvPicPr>
        <p:blipFill>
          <a:blip r:embed="rId1"/>
          <a:stretch>
            <a:fillRect/>
          </a:stretch>
        </p:blipFill>
        <p:spPr>
          <a:xfrm>
            <a:off x="548640" y="1600200"/>
            <a:ext cx="6217920" cy="3929884"/>
          </a:xfrm>
          <a:prstGeom prst="rect">
            <a:avLst/>
          </a:prstGeom>
        </p:spPr>
      </p:pic>
      <p:sp>
        <p:nvSpPr>
          <p:cNvPr id="6" name="Légende image"/>
          <p:cNvSpPr txBox="1"/>
          <p:nvPr/>
        </p:nvSpPr>
        <p:spPr>
          <a:xfrm>
            <a:off x="548640" y="5667244"/>
            <a:ext cx="6217920" cy="274320"/>
          </a:xfrm>
          <a:prstGeom prst="rect">
            <a:avLst/>
          </a:prstGeom>
          <a:noFill/>
          <a:ln/>
        </p:spPr>
        <p:txBody>
          <a:bodyPr wrap="square" lIns="0" tIns="0" rIns="0" bIns="0" rtlCol="0" anchor="t"/>
          <a:lstStyle/>
          <a:p>
            <a:pPr indent="0" marL="0">
              <a:buNone/>
            </a:pPr>
            <a:r>
              <a:rPr lang="en-US" sz="1100" i="1" dirty="0">
                <a:solidFill>
                  <a:schemeClr val="accent5"/>
                </a:solidFill>
              </a:rPr>
              <a:t>ufw allow 'Nginx HTTP' puis ss -tlnp</a:t>
            </a:r>
            <a:endParaRPr lang="en-US" sz="1100" dirty="0"/>
          </a:p>
        </p:txBody>
      </p:sp>
      <p:sp>
        <p:nvSpPr>
          <p:cNvPr id="7" name="Capture navigateur après pare-feu (cadre)"/>
          <p:cNvSpPr/>
          <p:nvPr/>
        </p:nvSpPr>
        <p:spPr>
          <a:xfrm>
            <a:off x="7178040" y="1554480"/>
            <a:ext cx="4480560" cy="1444091"/>
          </a:xfrm>
          <a:prstGeom prst="rect">
            <a:avLst/>
          </a:prstGeom>
          <a:solidFill>
            <a:schemeClr val="bg1"/>
          </a:solidFill>
          <a:ln w="9525">
            <a:solidFill>
              <a:srgbClr val="8FB8C4"/>
            </a:solidFill>
            <a:prstDash val="solid"/>
          </a:ln>
          <a:effectLst>
            <a:outerShdw sx="100000" sy="100000" kx="0" ky="0" algn="bl" rotWithShape="0" blurRad="76200" dist="25400" dir="5400000">
              <a:srgbClr val="000000">
                <a:alpha val="18000"/>
              </a:srgbClr>
            </a:outerShdw>
          </a:effectLst>
        </p:spPr>
      </p:sp>
      <p:pic>
        <p:nvPicPr>
          <p:cNvPr id="8" name="Capture navigateur après pare-feu" descr="Navigateur : la page du groupe s'affiche de nouveau">    </p:cNvPr>
          <p:cNvPicPr>
            <a:picLocks noChangeAspect="1"/>
          </p:cNvPicPr>
          <p:nvPr/>
        </p:nvPicPr>
        <p:blipFill>
          <a:blip r:embed="rId2"/>
          <a:stretch>
            <a:fillRect/>
          </a:stretch>
        </p:blipFill>
        <p:spPr>
          <a:xfrm>
            <a:off x="7223760" y="1600200"/>
            <a:ext cx="4389120" cy="1352651"/>
          </a:xfrm>
          <a:prstGeom prst="rect">
            <a:avLst/>
          </a:prstGeom>
        </p:spPr>
      </p:pic>
      <p:sp>
        <p:nvSpPr>
          <p:cNvPr id="9" name="Légende image"/>
          <p:cNvSpPr txBox="1"/>
          <p:nvPr/>
        </p:nvSpPr>
        <p:spPr>
          <a:xfrm>
            <a:off x="7223760" y="3090011"/>
            <a:ext cx="4389120" cy="274320"/>
          </a:xfrm>
          <a:prstGeom prst="rect">
            <a:avLst/>
          </a:prstGeom>
          <a:noFill/>
          <a:ln/>
        </p:spPr>
        <p:txBody>
          <a:bodyPr wrap="square" lIns="0" tIns="0" rIns="0" bIns="0" rtlCol="0" anchor="t"/>
          <a:lstStyle/>
          <a:p>
            <a:pPr indent="0" marL="0">
              <a:buNone/>
            </a:pPr>
            <a:r>
              <a:rPr lang="en-US" sz="1100" i="1" dirty="0">
                <a:solidFill>
                  <a:schemeClr val="accent5"/>
                </a:solidFill>
              </a:rPr>
              <a:t>Le navigateur affiche de nouveau la page</a:t>
            </a:r>
            <a:endParaRPr lang="en-US" sz="1100" dirty="0"/>
          </a:p>
        </p:txBody>
      </p:sp>
      <p:sp>
        <p:nvSpPr>
          <p:cNvPr id="10" name="Carte ports"/>
          <p:cNvSpPr/>
          <p:nvPr/>
        </p:nvSpPr>
        <p:spPr>
          <a:xfrm>
            <a:off x="7223760" y="3840480"/>
            <a:ext cx="4389120" cy="2286000"/>
          </a:xfrm>
          <a:prstGeom prst="roundRect">
            <a:avLst>
              <a:gd name="adj" fmla="val 4800"/>
            </a:avLst>
          </a:prstGeom>
          <a:solidFill>
            <a:schemeClr val="bg2"/>
          </a:solidFill>
          <a:ln/>
        </p:spPr>
      </p:sp>
      <p:sp>
        <p:nvSpPr>
          <p:cNvPr id="11" name="Carte ports titre"/>
          <p:cNvSpPr txBox="1"/>
          <p:nvPr/>
        </p:nvSpPr>
        <p:spPr>
          <a:xfrm>
            <a:off x="7452360" y="3977640"/>
            <a:ext cx="3931920" cy="365760"/>
          </a:xfrm>
          <a:prstGeom prst="rect">
            <a:avLst/>
          </a:prstGeom>
          <a:noFill/>
          <a:ln/>
        </p:spPr>
        <p:txBody>
          <a:bodyPr wrap="square" lIns="0" tIns="0" rIns="0" bIns="0" rtlCol="0" anchor="t"/>
          <a:lstStyle/>
          <a:p>
            <a:pPr indent="0" marL="0">
              <a:buNone/>
            </a:pPr>
            <a:r>
              <a:rPr lang="en-US" sz="1800" b="1" dirty="0">
                <a:solidFill>
                  <a:schemeClr val="accent1"/>
                </a:solidFill>
              </a:rPr>
              <a:t>Nginx écoute sur le port 80</a:t>
            </a:r>
            <a:endParaRPr lang="en-US" sz="1800" dirty="0"/>
          </a:p>
        </p:txBody>
      </p:sp>
      <p:sp>
        <p:nvSpPr>
          <p:cNvPr id="12" name="Carte ports texte"/>
          <p:cNvSpPr txBox="1"/>
          <p:nvPr/>
        </p:nvSpPr>
        <p:spPr>
          <a:xfrm>
            <a:off x="7452360" y="4389120"/>
            <a:ext cx="3931920" cy="1600200"/>
          </a:xfrm>
          <a:prstGeom prst="rect">
            <a:avLst/>
          </a:prstGeom>
          <a:noFill/>
          <a:ln/>
        </p:spPr>
        <p:txBody>
          <a:bodyPr wrap="square" lIns="0" tIns="0" rIns="0" bIns="0" rtlCol="0" anchor="t"/>
          <a:lstStyle/>
          <a:p>
            <a:pPr indent="0" marL="0">
              <a:buNone/>
            </a:pPr>
            <a:r>
              <a:rPr lang="en-US" sz="1500" dirty="0">
                <a:solidFill>
                  <a:schemeClr val="tx1"/>
                </a:solidFill>
              </a:rPr>
              <a:t>0.0.0.0:80 (IPv4)</a:t>
            </a:r>
            <a:endParaRPr lang="en-US" sz="1500" dirty="0"/>
          </a:p>
          <a:p>
            <a:pPr indent="0" marL="0">
              <a:buNone/>
            </a:pPr>
            <a:r>
              <a:rPr lang="en-US" sz="1500" dirty="0">
                <a:solidFill>
                  <a:schemeClr val="tx1"/>
                </a:solidFill>
              </a:rPr>
              <a:t>[::]:80 (IPv6)</a:t>
            </a:r>
            <a:endParaRPr lang="en-US" sz="1500" dirty="0"/>
          </a:p>
          <a:p>
            <a:pPr indent="0" marL="0">
              <a:buNone/>
            </a:pPr>
            <a:r>
              <a:rPr lang="en-US" sz="1500" dirty="0">
                <a:solidFill>
                  <a:schemeClr val="tx1"/>
                </a:solidFill>
              </a:rPr>
              <a:t>sshd reste sur le port 22</a:t>
            </a:r>
            <a:endParaRPr lang="en-US" sz="15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C6B75"/>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Repère de partie"/>
          <p:cNvSpPr txBox="1"/>
          <p:nvPr/>
        </p:nvSpPr>
        <p:spPr>
          <a:xfrm>
            <a:off x="548640" y="274320"/>
            <a:ext cx="8229600" cy="274320"/>
          </a:xfrm>
          <a:prstGeom prst="rect">
            <a:avLst/>
          </a:prstGeom>
          <a:noFill/>
          <a:ln/>
        </p:spPr>
        <p:txBody>
          <a:bodyPr wrap="square" lIns="0" tIns="0" rIns="0" bIns="0" rtlCol="0" anchor="t"/>
          <a:lstStyle/>
          <a:p>
            <a:pPr indent="0" marL="0">
              <a:buNone/>
            </a:pPr>
            <a:r>
              <a:rPr lang="en-US" sz="1200" b="1" spc="200" kern="0" dirty="0">
                <a:solidFill>
                  <a:schemeClr val="accent1"/>
                </a:solidFill>
              </a:rPr>
              <a:t>PARTIE 3 · LIEN AVEC LE COURS</a:t>
            </a:r>
            <a:endParaRPr lang="en-US" sz="1200" dirty="0"/>
          </a:p>
        </p:txBody>
      </p:sp>
      <p:sp>
        <p:nvSpPr>
          <p:cNvPr id="3" name="Text 0"/>
          <p:cNvSpPr/>
          <p:nvPr>
            <p:ph idx="100" type="title" hasCustomPrompt="1"/>
          </p:nvPr>
        </p:nvSpPr>
        <p:spPr>
          <a:xfrm>
            <a:off x="548640" y="566928"/>
            <a:ext cx="11064240" cy="777240"/>
          </a:xfrm>
          <a:prstGeom prst="rect">
            <a:avLst/>
          </a:prstGeom>
          <a:noFill/>
          <a:ln/>
        </p:spPr>
        <p:txBody>
          <a:bodyPr wrap="square" lIns="0" tIns="0" rIns="0" bIns="0" rtlCol="0" anchor="ctr"/>
          <a:lstStyle/>
          <a:p>
            <a:pPr algn="l" indent="0" marL="0">
              <a:buNone/>
            </a:pPr>
            <a:r>
              <a:rPr lang="en-US" sz="3400" b="1" dirty="0">
                <a:solidFill>
                  <a:schemeClr val="tx2"/>
                </a:solidFill>
              </a:rPr>
              <a:t>Ce que nous avons géré en IaaS</a:t>
            </a:r>
            <a:endParaRPr lang="en-US" sz="3400" dirty="0"/>
          </a:p>
        </p:txBody>
      </p:sp>
      <p:sp>
        <p:nvSpPr>
          <p:cNvPr id="4" name="Fourni par VirtualBox"/>
          <p:cNvSpPr/>
          <p:nvPr/>
        </p:nvSpPr>
        <p:spPr>
          <a:xfrm>
            <a:off x="548640" y="1600200"/>
            <a:ext cx="5394960" cy="3383280"/>
          </a:xfrm>
          <a:prstGeom prst="roundRect">
            <a:avLst>
              <a:gd name="adj" fmla="val 3243"/>
            </a:avLst>
          </a:prstGeom>
          <a:solidFill>
            <a:schemeClr val="bg2"/>
          </a:solidFill>
          <a:ln/>
        </p:spPr>
      </p:sp>
      <p:sp>
        <p:nvSpPr>
          <p:cNvPr id="5" name="Titre fournisseur"/>
          <p:cNvSpPr txBox="1"/>
          <p:nvPr/>
        </p:nvSpPr>
        <p:spPr>
          <a:xfrm>
            <a:off x="822960" y="1783080"/>
            <a:ext cx="4846320" cy="411480"/>
          </a:xfrm>
          <a:prstGeom prst="rect">
            <a:avLst/>
          </a:prstGeom>
          <a:noFill/>
          <a:ln/>
        </p:spPr>
        <p:txBody>
          <a:bodyPr wrap="square" lIns="0" tIns="0" rIns="0" bIns="0" rtlCol="0" anchor="t"/>
          <a:lstStyle/>
          <a:p>
            <a:pPr indent="0" marL="0">
              <a:buNone/>
            </a:pPr>
            <a:r>
              <a:rPr lang="en-US" sz="2000" b="1" dirty="0">
                <a:solidFill>
                  <a:schemeClr val="accent5"/>
                </a:solidFill>
              </a:rPr>
              <a:t>Fourni par VirtualBox</a:t>
            </a:r>
            <a:endParaRPr lang="en-US" sz="2000" dirty="0"/>
          </a:p>
        </p:txBody>
      </p:sp>
      <p:sp>
        <p:nvSpPr>
          <p:cNvPr id="6" name="Liste fournisseur"/>
          <p:cNvSpPr txBox="1"/>
          <p:nvPr/>
        </p:nvSpPr>
        <p:spPr>
          <a:xfrm>
            <a:off x="822960" y="2377440"/>
            <a:ext cx="4846320" cy="2377440"/>
          </a:xfrm>
          <a:prstGeom prst="rect">
            <a:avLst/>
          </a:prstGeom>
          <a:noFill/>
          <a:ln/>
        </p:spPr>
        <p:txBody>
          <a:bodyPr wrap="square" lIns="0" tIns="0" rIns="0" bIns="0" rtlCol="0" anchor="t"/>
          <a:lstStyle/>
          <a:p>
            <a:pPr marL="342900" indent="-342900">
              <a:spcAft>
                <a:spcPts val="800"/>
              </a:spcAft>
              <a:buSzPct val="100000"/>
              <a:buChar char="•"/>
            </a:pPr>
            <a:r>
              <a:rPr lang="en-US" sz="1700" dirty="0">
                <a:solidFill>
                  <a:schemeClr val="tx1"/>
                </a:solidFill>
              </a:rPr>
              <a:t>Matériel virtualisé : CPU, RAM, disque</a:t>
            </a:r>
            <a:endParaRPr lang="en-US" sz="1700" dirty="0"/>
          </a:p>
          <a:p>
            <a:pPr marL="342900" indent="-342900">
              <a:spcAft>
                <a:spcPts val="800"/>
              </a:spcAft>
              <a:buSzPct val="100000"/>
              <a:buChar char="•"/>
            </a:pPr>
            <a:r>
              <a:rPr lang="en-US" sz="1700" dirty="0">
                <a:solidFill>
                  <a:schemeClr val="tx1"/>
                </a:solidFill>
              </a:rPr>
              <a:t>Virtualisation</a:t>
            </a:r>
            <a:endParaRPr lang="en-US" sz="1700" dirty="0"/>
          </a:p>
          <a:p>
            <a:pPr marL="342900" indent="-342900">
              <a:spcAft>
                <a:spcPts val="800"/>
              </a:spcAft>
              <a:buSzPct val="100000"/>
              <a:buChar char="•"/>
            </a:pPr>
            <a:r>
              <a:rPr lang="en-US" sz="1700" dirty="0">
                <a:solidFill>
                  <a:schemeClr val="tx1"/>
                </a:solidFill>
              </a:rPr>
              <a:t>Stockage</a:t>
            </a:r>
            <a:endParaRPr lang="en-US" sz="1700" dirty="0"/>
          </a:p>
          <a:p>
            <a:pPr marL="342900" indent="-342900">
              <a:spcAft>
                <a:spcPts val="800"/>
              </a:spcAft>
              <a:buSzPct val="100000"/>
              <a:buChar char="•"/>
            </a:pPr>
            <a:r>
              <a:rPr lang="en-US" sz="1700" dirty="0">
                <a:solidFill>
                  <a:schemeClr val="tx1"/>
                </a:solidFill>
              </a:rPr>
              <a:t>Réseau NAT, passerelle, DNS</a:t>
            </a:r>
            <a:endParaRPr lang="en-US" sz="1700" dirty="0"/>
          </a:p>
        </p:txBody>
      </p:sp>
      <p:sp>
        <p:nvSpPr>
          <p:cNvPr id="7" name="Géré par nous"/>
          <p:cNvSpPr/>
          <p:nvPr/>
        </p:nvSpPr>
        <p:spPr>
          <a:xfrm>
            <a:off x="6217920" y="1600200"/>
            <a:ext cx="5394960" cy="3383280"/>
          </a:xfrm>
          <a:prstGeom prst="roundRect">
            <a:avLst>
              <a:gd name="adj" fmla="val 3243"/>
            </a:avLst>
          </a:prstGeom>
          <a:solidFill>
            <a:schemeClr val="accent1"/>
          </a:solidFill>
          <a:ln/>
        </p:spPr>
      </p:sp>
      <p:sp>
        <p:nvSpPr>
          <p:cNvPr id="8" name="Titre client"/>
          <p:cNvSpPr txBox="1"/>
          <p:nvPr/>
        </p:nvSpPr>
        <p:spPr>
          <a:xfrm>
            <a:off x="6492240" y="1783080"/>
            <a:ext cx="4846320" cy="411480"/>
          </a:xfrm>
          <a:prstGeom prst="rect">
            <a:avLst/>
          </a:prstGeom>
          <a:noFill/>
          <a:ln/>
        </p:spPr>
        <p:txBody>
          <a:bodyPr wrap="square" lIns="0" tIns="0" rIns="0" bIns="0" rtlCol="0" anchor="t"/>
          <a:lstStyle/>
          <a:p>
            <a:pPr indent="0" marL="0">
              <a:buNone/>
            </a:pPr>
            <a:r>
              <a:rPr lang="en-US" sz="2000" b="1" dirty="0">
                <a:solidFill>
                  <a:schemeClr val="bg1"/>
                </a:solidFill>
              </a:rPr>
              <a:t>Géré par nous</a:t>
            </a:r>
            <a:endParaRPr lang="en-US" sz="2000" dirty="0"/>
          </a:p>
        </p:txBody>
      </p:sp>
      <p:sp>
        <p:nvSpPr>
          <p:cNvPr id="9" name="Liste client"/>
          <p:cNvSpPr txBox="1"/>
          <p:nvPr/>
        </p:nvSpPr>
        <p:spPr>
          <a:xfrm>
            <a:off x="6492240" y="2377440"/>
            <a:ext cx="4846320" cy="2377440"/>
          </a:xfrm>
          <a:prstGeom prst="rect">
            <a:avLst/>
          </a:prstGeom>
          <a:noFill/>
          <a:ln/>
        </p:spPr>
        <p:txBody>
          <a:bodyPr wrap="square" lIns="0" tIns="0" rIns="0" bIns="0" rtlCol="0" anchor="t"/>
          <a:lstStyle/>
          <a:p>
            <a:pPr marL="342900" indent="-342900">
              <a:spcAft>
                <a:spcPts val="800"/>
              </a:spcAft>
              <a:buSzPct val="100000"/>
              <a:buChar char="•"/>
            </a:pPr>
            <a:r>
              <a:rPr lang="en-US" sz="1700" dirty="0">
                <a:solidFill>
                  <a:schemeClr val="bg1"/>
                </a:solidFill>
              </a:rPr>
              <a:t>Système d’exploitation, identité du clone</a:t>
            </a:r>
            <a:endParaRPr lang="en-US" sz="1700" dirty="0"/>
          </a:p>
          <a:p>
            <a:pPr marL="342900" indent="-342900">
              <a:spcAft>
                <a:spcPts val="800"/>
              </a:spcAft>
              <a:buSzPct val="100000"/>
              <a:buChar char="•"/>
            </a:pPr>
            <a:r>
              <a:rPr lang="en-US" sz="1700" dirty="0">
                <a:solidFill>
                  <a:schemeClr val="bg1"/>
                </a:solidFill>
              </a:rPr>
              <a:t>Adresse IP fixe (netplan)</a:t>
            </a:r>
            <a:endParaRPr lang="en-US" sz="1700" dirty="0"/>
          </a:p>
          <a:p>
            <a:pPr marL="342900" indent="-342900">
              <a:spcAft>
                <a:spcPts val="800"/>
              </a:spcAft>
              <a:buSzPct val="100000"/>
              <a:buChar char="•"/>
            </a:pPr>
            <a:r>
              <a:rPr lang="en-US" sz="1700" dirty="0">
                <a:solidFill>
                  <a:schemeClr val="bg1"/>
                </a:solidFill>
              </a:rPr>
              <a:t>Pare-feu ufw</a:t>
            </a:r>
            <a:endParaRPr lang="en-US" sz="1700" dirty="0"/>
          </a:p>
          <a:p>
            <a:pPr marL="342900" indent="-342900">
              <a:spcAft>
                <a:spcPts val="800"/>
              </a:spcAft>
              <a:buSzPct val="100000"/>
              <a:buChar char="•"/>
            </a:pPr>
            <a:r>
              <a:rPr lang="en-US" sz="1700" dirty="0">
                <a:solidFill>
                  <a:schemeClr val="bg1"/>
                </a:solidFill>
              </a:rPr>
              <a:t>Serveur Nginx et la page web</a:t>
            </a:r>
            <a:endParaRPr lang="en-US" sz="1700" dirty="0"/>
          </a:p>
        </p:txBody>
      </p:sp>
      <p:sp>
        <p:nvSpPr>
          <p:cNvPr id="10" name="Bandeau ufw"/>
          <p:cNvSpPr/>
          <p:nvPr/>
        </p:nvSpPr>
        <p:spPr>
          <a:xfrm>
            <a:off x="548640" y="5257800"/>
            <a:ext cx="11064240" cy="914400"/>
          </a:xfrm>
          <a:prstGeom prst="roundRect">
            <a:avLst>
              <a:gd name="adj" fmla="val 12000"/>
            </a:avLst>
          </a:prstGeom>
          <a:solidFill>
            <a:schemeClr val="bg2"/>
          </a:solidFill>
          <a:ln/>
        </p:spPr>
      </p:sp>
      <p:sp>
        <p:nvSpPr>
          <p:cNvPr id="11" name="Texte ufw groupe de sécurité"/>
          <p:cNvSpPr txBox="1"/>
          <p:nvPr/>
        </p:nvSpPr>
        <p:spPr>
          <a:xfrm>
            <a:off x="822960" y="5349240"/>
            <a:ext cx="10515600" cy="731520"/>
          </a:xfrm>
          <a:prstGeom prst="rect">
            <a:avLst/>
          </a:prstGeom>
          <a:noFill/>
          <a:ln/>
        </p:spPr>
        <p:txBody>
          <a:bodyPr wrap="square" lIns="0" tIns="0" rIns="0" bIns="0" rtlCol="0" anchor="ctr"/>
          <a:lstStyle/>
          <a:p>
            <a:pPr indent="0" marL="0">
              <a:buNone/>
            </a:pPr>
            <a:r>
              <a:rPr lang="en-US" sz="1600" b="1" dirty="0">
                <a:solidFill>
                  <a:schemeClr val="accent1"/>
                </a:solidFill>
              </a:rPr>
              <a:t>ufw ≈ groupe de sécurité : </a:t>
            </a:r>
            <a:pPr indent="0" marL="0">
              <a:buNone/>
            </a:pPr>
            <a:r>
              <a:rPr lang="en-US" sz="1600" dirty="0">
                <a:solidFill>
                  <a:schemeClr val="tx1"/>
                </a:solidFill>
              </a:rPr>
              <a:t>mêmes règles de ports et refus par défaut, mais ufw vit dans la VM, alors que le groupe de sécurité est appliqué par le cloud.</a:t>
            </a:r>
            <a:endParaRPr lang="en-US" sz="16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C6B75"/>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Repère de partie"/>
          <p:cNvSpPr txBox="1"/>
          <p:nvPr/>
        </p:nvSpPr>
        <p:spPr>
          <a:xfrm>
            <a:off x="548640" y="274320"/>
            <a:ext cx="8229600" cy="274320"/>
          </a:xfrm>
          <a:prstGeom prst="rect">
            <a:avLst/>
          </a:prstGeom>
          <a:noFill/>
          <a:ln/>
        </p:spPr>
        <p:txBody>
          <a:bodyPr wrap="square" lIns="0" tIns="0" rIns="0" bIns="0" rtlCol="0" anchor="t"/>
          <a:lstStyle/>
          <a:p>
            <a:pPr indent="0" marL="0">
              <a:buNone/>
            </a:pPr>
            <a:r>
              <a:rPr lang="en-US" sz="1200" b="1" spc="200" kern="0" dirty="0">
                <a:solidFill>
                  <a:schemeClr val="accent1"/>
                </a:solidFill>
              </a:rPr>
              <a:t>PARTIE 4 · MESURES</a:t>
            </a:r>
            <a:endParaRPr lang="en-US" sz="1200" dirty="0"/>
          </a:p>
        </p:txBody>
      </p:sp>
      <p:sp>
        <p:nvSpPr>
          <p:cNvPr id="3" name="Text 0"/>
          <p:cNvSpPr/>
          <p:nvPr>
            <p:ph idx="100" type="title" hasCustomPrompt="1"/>
          </p:nvPr>
        </p:nvSpPr>
        <p:spPr>
          <a:xfrm>
            <a:off x="548640" y="566928"/>
            <a:ext cx="11064240" cy="777240"/>
          </a:xfrm>
          <a:prstGeom prst="rect">
            <a:avLst/>
          </a:prstGeom>
          <a:noFill/>
          <a:ln/>
        </p:spPr>
        <p:txBody>
          <a:bodyPr wrap="square" lIns="0" tIns="0" rIns="0" bIns="0" rtlCol="0" anchor="ctr"/>
          <a:lstStyle/>
          <a:p>
            <a:pPr algn="l" indent="0" marL="0">
              <a:buNone/>
            </a:pPr>
            <a:r>
              <a:rPr lang="en-US" sz="3400" b="1" dirty="0">
                <a:solidFill>
                  <a:schemeClr val="tx2"/>
                </a:solidFill>
              </a:rPr>
              <a:t>Ce que voit la VM, ce que voit l’hôte</a:t>
            </a:r>
            <a:endParaRPr lang="en-US" sz="3400" dirty="0"/>
          </a:p>
        </p:txBody>
      </p:sp>
      <p:graphicFrame>
        <p:nvGraphicFramePr>
          <p:cNvPr id="4" name="Chart 0" descr=""/>
          <p:cNvGraphicFramePr/>
          <p:nvPr/>
        </p:nvGraphicFramePr>
        <p:xfrm>
          <a:off x="548640" y="1554480"/>
          <a:ext cx="5486400" cy="3657600"/>
        </p:xfrm>
        <a:graphic xmlns:a="http://schemas.openxmlformats.org/drawingml/2006/main">
          <a:graphicData uri="http://schemas.openxmlformats.org/drawingml/2006/chart">
            <c:chart xmlns:c="http://schemas.openxmlformats.org/drawingml/2006/chart" r:id="rId1"/>
          </a:graphicData>
        </a:graphic>
      </p:graphicFrame>
      <p:graphicFrame>
        <p:nvGraphicFramePr>
          <p:cNvPr id="5" name="Chart 1" descr=""/>
          <p:cNvGraphicFramePr/>
          <p:nvPr/>
        </p:nvGraphicFramePr>
        <p:xfrm>
          <a:off x="6309360" y="1554480"/>
          <a:ext cx="5303520" cy="3657600"/>
        </p:xfrm>
        <a:graphic xmlns:a="http://schemas.openxmlformats.org/drawingml/2006/main">
          <a:graphicData uri="http://schemas.openxmlformats.org/drawingml/2006/chart">
            <c:chart xmlns:c="http://schemas.openxmlformats.org/drawingml/2006/chart" r:id="rId2"/>
          </a:graphicData>
        </a:graphic>
      </p:graphicFrame>
      <p:sp>
        <p:nvSpPr>
          <p:cNvPr id="6" name="Conclusion mémoire"/>
          <p:cNvSpPr txBox="1"/>
          <p:nvPr/>
        </p:nvSpPr>
        <p:spPr>
          <a:xfrm>
            <a:off x="548640" y="5440680"/>
            <a:ext cx="5486400" cy="777240"/>
          </a:xfrm>
          <a:prstGeom prst="rect">
            <a:avLst/>
          </a:prstGeom>
          <a:noFill/>
          <a:ln/>
        </p:spPr>
        <p:txBody>
          <a:bodyPr wrap="square" lIns="0" tIns="0" rIns="0" bIns="0" rtlCol="0" anchor="t"/>
          <a:lstStyle/>
          <a:p>
            <a:pPr indent="0" marL="0">
              <a:buNone/>
            </a:pPr>
            <a:r>
              <a:rPr lang="en-US" sz="1500" b="1" dirty="0">
                <a:solidFill>
                  <a:schemeClr val="tx2"/>
                </a:solidFill>
              </a:rPr>
              <a:t>L’hôte réserve plus de mémoire que la VM n’en utilise : le cache disque compte.</a:t>
            </a:r>
            <a:endParaRPr lang="en-US" sz="1500" dirty="0"/>
          </a:p>
        </p:txBody>
      </p:sp>
      <p:sp>
        <p:nvSpPr>
          <p:cNvPr id="7" name="Conclusion disque"/>
          <p:cNvSpPr txBox="1"/>
          <p:nvPr/>
        </p:nvSpPr>
        <p:spPr>
          <a:xfrm>
            <a:off x="6309360" y="5440680"/>
            <a:ext cx="5303520" cy="777240"/>
          </a:xfrm>
          <a:prstGeom prst="rect">
            <a:avLst/>
          </a:prstGeom>
          <a:noFill/>
          <a:ln/>
        </p:spPr>
        <p:txBody>
          <a:bodyPr wrap="square" lIns="0" tIns="0" rIns="0" bIns="0" rtlCol="0" anchor="t"/>
          <a:lstStyle/>
          <a:p>
            <a:pPr indent="0" marL="0">
              <a:buNone/>
            </a:pPr>
            <a:r>
              <a:rPr lang="en-US" sz="1500" b="1" dirty="0">
                <a:solidFill>
                  <a:schemeClr val="tx2"/>
                </a:solidFill>
              </a:rPr>
              <a:t>Allocation dynamique : le disque de 25 Go n’occupe que ce qui est écrit.</a:t>
            </a:r>
            <a:endParaRPr lang="en-US" sz="15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C6B75"/>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Repère de partie"/>
          <p:cNvSpPr txBox="1"/>
          <p:nvPr/>
        </p:nvSpPr>
        <p:spPr>
          <a:xfrm>
            <a:off x="548640" y="274320"/>
            <a:ext cx="8229600" cy="274320"/>
          </a:xfrm>
          <a:prstGeom prst="rect">
            <a:avLst/>
          </a:prstGeom>
          <a:noFill/>
          <a:ln/>
        </p:spPr>
        <p:txBody>
          <a:bodyPr wrap="square" lIns="0" tIns="0" rIns="0" bIns="0" rtlCol="0" anchor="t"/>
          <a:lstStyle/>
          <a:p>
            <a:pPr indent="0" marL="0">
              <a:buNone/>
            </a:pPr>
            <a:r>
              <a:rPr lang="en-US" sz="1200" b="1" spc="200" kern="0" dirty="0">
                <a:solidFill>
                  <a:schemeClr val="accent1"/>
                </a:solidFill>
              </a:rPr>
              <a:t>PARTIE 4 · NETTOYAGE</a:t>
            </a:r>
            <a:endParaRPr lang="en-US" sz="1200" dirty="0"/>
          </a:p>
        </p:txBody>
      </p:sp>
      <p:sp>
        <p:nvSpPr>
          <p:cNvPr id="3" name="Text 0"/>
          <p:cNvSpPr/>
          <p:nvPr>
            <p:ph idx="100" type="title" hasCustomPrompt="1"/>
          </p:nvPr>
        </p:nvSpPr>
        <p:spPr>
          <a:xfrm>
            <a:off x="548640" y="566928"/>
            <a:ext cx="11064240" cy="777240"/>
          </a:xfrm>
          <a:prstGeom prst="rect">
            <a:avLst/>
          </a:prstGeom>
          <a:noFill/>
          <a:ln/>
        </p:spPr>
        <p:txBody>
          <a:bodyPr wrap="square" lIns="0" tIns="0" rIns="0" bIns="0" rtlCol="0" anchor="ctr"/>
          <a:lstStyle/>
          <a:p>
            <a:pPr algn="l" indent="0" marL="0">
              <a:buNone/>
            </a:pPr>
            <a:r>
              <a:rPr lang="en-US" sz="3400" b="1" dirty="0">
                <a:solidFill>
                  <a:schemeClr val="tx2"/>
                </a:solidFill>
              </a:rPr>
              <a:t>Nettoyage : seule ubuntu-srv reste</a:t>
            </a:r>
            <a:endParaRPr lang="en-US" sz="3400" dirty="0"/>
          </a:p>
        </p:txBody>
      </p:sp>
      <p:sp>
        <p:nvSpPr>
          <p:cNvPr id="4" name="Capture nettoyage (cadre)"/>
          <p:cNvSpPr/>
          <p:nvPr/>
        </p:nvSpPr>
        <p:spPr>
          <a:xfrm>
            <a:off x="502920" y="1554480"/>
            <a:ext cx="6126480" cy="3239026"/>
          </a:xfrm>
          <a:prstGeom prst="rect">
            <a:avLst/>
          </a:prstGeom>
          <a:solidFill>
            <a:schemeClr val="bg1"/>
          </a:solidFill>
          <a:ln w="9525">
            <a:solidFill>
              <a:srgbClr val="8FB8C4"/>
            </a:solidFill>
            <a:prstDash val="solid"/>
          </a:ln>
          <a:effectLst>
            <a:outerShdw sx="100000" sy="100000" kx="0" ky="0" algn="bl" rotWithShape="0" blurRad="76200" dist="25400" dir="5400000">
              <a:srgbClr val="000000">
                <a:alpha val="18000"/>
              </a:srgbClr>
            </a:outerShdw>
          </a:effectLst>
        </p:spPr>
      </p:sp>
      <p:pic>
        <p:nvPicPr>
          <p:cNvPr id="5" name="Capture nettoyage" descr="Démarrage headless, suppression de web, client et du réseau ; seule ubuntu-srv subsiste">    </p:cNvPr>
          <p:cNvPicPr>
            <a:picLocks noChangeAspect="1"/>
          </p:cNvPicPr>
          <p:nvPr/>
        </p:nvPicPr>
        <p:blipFill>
          <a:blip r:embed="rId1"/>
          <a:stretch>
            <a:fillRect/>
          </a:stretch>
        </p:blipFill>
        <p:spPr>
          <a:xfrm>
            <a:off x="548640" y="1600200"/>
            <a:ext cx="6035040" cy="3147586"/>
          </a:xfrm>
          <a:prstGeom prst="rect">
            <a:avLst/>
          </a:prstGeom>
        </p:spPr>
      </p:pic>
      <p:sp>
        <p:nvSpPr>
          <p:cNvPr id="6" name="Légende image"/>
          <p:cNvSpPr txBox="1"/>
          <p:nvPr/>
        </p:nvSpPr>
        <p:spPr>
          <a:xfrm>
            <a:off x="548640" y="4884946"/>
            <a:ext cx="6035040" cy="274320"/>
          </a:xfrm>
          <a:prstGeom prst="rect">
            <a:avLst/>
          </a:prstGeom>
          <a:noFill/>
          <a:ln/>
        </p:spPr>
        <p:txBody>
          <a:bodyPr wrap="square" lIns="0" tIns="0" rIns="0" bIns="0" rtlCol="0" anchor="t"/>
          <a:lstStyle/>
          <a:p>
            <a:pPr indent="0" marL="0">
              <a:buNone/>
            </a:pPr>
            <a:r>
              <a:rPr lang="en-US" sz="1100" i="1" dirty="0">
                <a:solidFill>
                  <a:schemeClr val="accent5"/>
                </a:solidFill>
              </a:rPr>
              <a:t>VBoxManage list vms : ubuntu-srv uniquement</a:t>
            </a:r>
            <a:endParaRPr lang="en-US" sz="1100" dirty="0"/>
          </a:p>
        </p:txBody>
      </p:sp>
      <p:sp>
        <p:nvSpPr>
          <p:cNvPr id="7" name="Note ubuntu-srv"/>
          <p:cNvSpPr txBox="1"/>
          <p:nvPr/>
        </p:nvSpPr>
        <p:spPr>
          <a:xfrm>
            <a:off x="548640" y="5387866"/>
            <a:ext cx="6035040" cy="731520"/>
          </a:xfrm>
          <a:prstGeom prst="rect">
            <a:avLst/>
          </a:prstGeom>
          <a:noFill/>
          <a:ln/>
        </p:spPr>
        <p:txBody>
          <a:bodyPr wrap="square" lIns="0" tIns="0" rIns="0" bIns="0" rtlCol="0" anchor="t"/>
          <a:lstStyle/>
          <a:p>
            <a:pPr indent="0" marL="0">
              <a:buNone/>
            </a:pPr>
            <a:r>
              <a:rPr lang="en-US" sz="1600" b="1" dirty="0">
                <a:solidFill>
                  <a:schemeClr val="accent1"/>
                </a:solidFill>
              </a:rPr>
              <a:t>ubuntu-srv est conservée : c’est l’image de base des prochains TP.</a:t>
            </a:r>
            <a:endParaRPr lang="en-US" sz="1600" dirty="0"/>
          </a:p>
        </p:txBody>
      </p:sp>
      <p:sp>
        <p:nvSpPr>
          <p:cNvPr id="8" name="Carte arrêt propre"/>
          <p:cNvSpPr/>
          <p:nvPr/>
        </p:nvSpPr>
        <p:spPr>
          <a:xfrm>
            <a:off x="6949440" y="1600200"/>
            <a:ext cx="4663440" cy="1371600"/>
          </a:xfrm>
          <a:prstGeom prst="roundRect">
            <a:avLst>
              <a:gd name="adj" fmla="val 8000"/>
            </a:avLst>
          </a:prstGeom>
          <a:solidFill>
            <a:schemeClr val="bg2"/>
          </a:solidFill>
          <a:ln/>
        </p:spPr>
      </p:sp>
      <p:sp>
        <p:nvSpPr>
          <p:cNvPr id="9" name="Carte arrêt propre titre"/>
          <p:cNvSpPr txBox="1"/>
          <p:nvPr/>
        </p:nvSpPr>
        <p:spPr>
          <a:xfrm>
            <a:off x="7178040" y="1737360"/>
            <a:ext cx="4206240" cy="365760"/>
          </a:xfrm>
          <a:prstGeom prst="rect">
            <a:avLst/>
          </a:prstGeom>
          <a:noFill/>
          <a:ln/>
        </p:spPr>
        <p:txBody>
          <a:bodyPr wrap="square" lIns="0" tIns="0" rIns="0" bIns="0" rtlCol="0" anchor="t"/>
          <a:lstStyle/>
          <a:p>
            <a:pPr indent="0" marL="0">
              <a:buNone/>
            </a:pPr>
            <a:r>
              <a:rPr lang="en-US" sz="1800" b="1" dirty="0">
                <a:solidFill>
                  <a:schemeClr val="accent3"/>
                </a:solidFill>
              </a:rPr>
              <a:t>acpipowerbutton</a:t>
            </a:r>
            <a:endParaRPr lang="en-US" sz="1800" dirty="0"/>
          </a:p>
        </p:txBody>
      </p:sp>
      <p:sp>
        <p:nvSpPr>
          <p:cNvPr id="10" name="Carte arrêt propre texte"/>
          <p:cNvSpPr txBox="1"/>
          <p:nvPr/>
        </p:nvSpPr>
        <p:spPr>
          <a:xfrm>
            <a:off x="7178040" y="2148840"/>
            <a:ext cx="4206240" cy="685800"/>
          </a:xfrm>
          <a:prstGeom prst="rect">
            <a:avLst/>
          </a:prstGeom>
          <a:noFill/>
          <a:ln/>
        </p:spPr>
        <p:txBody>
          <a:bodyPr wrap="square" lIns="0" tIns="0" rIns="0" bIns="0" rtlCol="0" anchor="t"/>
          <a:lstStyle/>
          <a:p>
            <a:pPr indent="0" marL="0">
              <a:buNone/>
            </a:pPr>
            <a:r>
              <a:rPr lang="en-US" sz="1500" dirty="0">
                <a:solidFill>
                  <a:schemeClr val="tx1"/>
                </a:solidFill>
              </a:rPr>
              <a:t>Arrêt propre, comme le bouton d’alimentation.</a:t>
            </a:r>
            <a:endParaRPr lang="en-US" sz="1500" dirty="0"/>
          </a:p>
        </p:txBody>
      </p:sp>
      <p:sp>
        <p:nvSpPr>
          <p:cNvPr id="11" name="Carte coupure brutale"/>
          <p:cNvSpPr/>
          <p:nvPr/>
        </p:nvSpPr>
        <p:spPr>
          <a:xfrm>
            <a:off x="6949440" y="3154680"/>
            <a:ext cx="4663440" cy="1371600"/>
          </a:xfrm>
          <a:prstGeom prst="roundRect">
            <a:avLst>
              <a:gd name="adj" fmla="val 8000"/>
            </a:avLst>
          </a:prstGeom>
          <a:solidFill>
            <a:schemeClr val="bg2"/>
          </a:solidFill>
          <a:ln/>
        </p:spPr>
      </p:sp>
      <p:sp>
        <p:nvSpPr>
          <p:cNvPr id="12" name="Carte coupure brutale titre"/>
          <p:cNvSpPr txBox="1"/>
          <p:nvPr/>
        </p:nvSpPr>
        <p:spPr>
          <a:xfrm>
            <a:off x="7178040" y="3291840"/>
            <a:ext cx="4206240" cy="365760"/>
          </a:xfrm>
          <a:prstGeom prst="rect">
            <a:avLst/>
          </a:prstGeom>
          <a:noFill/>
          <a:ln/>
        </p:spPr>
        <p:txBody>
          <a:bodyPr wrap="square" lIns="0" tIns="0" rIns="0" bIns="0" rtlCol="0" anchor="t"/>
          <a:lstStyle/>
          <a:p>
            <a:pPr indent="0" marL="0">
              <a:buNone/>
            </a:pPr>
            <a:r>
              <a:rPr lang="en-US" sz="1800" b="1" dirty="0">
                <a:solidFill>
                  <a:schemeClr val="accent2"/>
                </a:solidFill>
              </a:rPr>
              <a:t>poweroff</a:t>
            </a:r>
            <a:endParaRPr lang="en-US" sz="1800" dirty="0"/>
          </a:p>
        </p:txBody>
      </p:sp>
      <p:sp>
        <p:nvSpPr>
          <p:cNvPr id="13" name="Carte coupure brutale texte"/>
          <p:cNvSpPr txBox="1"/>
          <p:nvPr/>
        </p:nvSpPr>
        <p:spPr>
          <a:xfrm>
            <a:off x="7178040" y="3703320"/>
            <a:ext cx="4206240" cy="685800"/>
          </a:xfrm>
          <a:prstGeom prst="rect">
            <a:avLst/>
          </a:prstGeom>
          <a:noFill/>
          <a:ln/>
        </p:spPr>
        <p:txBody>
          <a:bodyPr wrap="square" lIns="0" tIns="0" rIns="0" bIns="0" rtlCol="0" anchor="t"/>
          <a:lstStyle/>
          <a:p>
            <a:pPr indent="0" marL="0">
              <a:buNone/>
            </a:pPr>
            <a:r>
              <a:rPr lang="en-US" sz="1500" dirty="0">
                <a:solidFill>
                  <a:schemeClr val="tx1"/>
                </a:solidFill>
              </a:rPr>
              <a:t>Coupure brutale, comme débrancher la prise.</a:t>
            </a:r>
            <a:endParaRPr lang="en-US" sz="1500" dirty="0"/>
          </a:p>
        </p:txBody>
      </p:sp>
      <p:sp>
        <p:nvSpPr>
          <p:cNvPr id="14" name="Carte suppression"/>
          <p:cNvSpPr/>
          <p:nvPr/>
        </p:nvSpPr>
        <p:spPr>
          <a:xfrm>
            <a:off x="6949440" y="4709160"/>
            <a:ext cx="4663440" cy="1417320"/>
          </a:xfrm>
          <a:prstGeom prst="roundRect">
            <a:avLst>
              <a:gd name="adj" fmla="val 7742"/>
            </a:avLst>
          </a:prstGeom>
          <a:solidFill>
            <a:schemeClr val="bg2"/>
          </a:solidFill>
          <a:ln/>
        </p:spPr>
      </p:sp>
      <p:sp>
        <p:nvSpPr>
          <p:cNvPr id="15" name="Carte suppression titre"/>
          <p:cNvSpPr txBox="1"/>
          <p:nvPr/>
        </p:nvSpPr>
        <p:spPr>
          <a:xfrm>
            <a:off x="7178040" y="4846320"/>
            <a:ext cx="4206240" cy="365760"/>
          </a:xfrm>
          <a:prstGeom prst="rect">
            <a:avLst/>
          </a:prstGeom>
          <a:noFill/>
          <a:ln/>
        </p:spPr>
        <p:txBody>
          <a:bodyPr wrap="square" lIns="0" tIns="0" rIns="0" bIns="0" rtlCol="0" anchor="t"/>
          <a:lstStyle/>
          <a:p>
            <a:pPr indent="0" marL="0">
              <a:buNone/>
            </a:pPr>
            <a:r>
              <a:rPr lang="en-US" sz="1800" b="1" dirty="0">
                <a:solidFill>
                  <a:schemeClr val="accent4"/>
                </a:solidFill>
              </a:rPr>
              <a:t>unregistervm --delete</a:t>
            </a:r>
            <a:endParaRPr lang="en-US" sz="1800" dirty="0"/>
          </a:p>
        </p:txBody>
      </p:sp>
      <p:sp>
        <p:nvSpPr>
          <p:cNvPr id="16" name="Carte suppression texte"/>
          <p:cNvSpPr txBox="1"/>
          <p:nvPr/>
        </p:nvSpPr>
        <p:spPr>
          <a:xfrm>
            <a:off x="7178040" y="5257800"/>
            <a:ext cx="4206240" cy="731520"/>
          </a:xfrm>
          <a:prstGeom prst="rect">
            <a:avLst/>
          </a:prstGeom>
          <a:noFill/>
          <a:ln/>
        </p:spPr>
        <p:txBody>
          <a:bodyPr wrap="square" lIns="0" tIns="0" rIns="0" bIns="0" rtlCol="0" anchor="t"/>
          <a:lstStyle/>
          <a:p>
            <a:pPr indent="0" marL="0">
              <a:buNone/>
            </a:pPr>
            <a:r>
              <a:rPr lang="en-US" sz="1500" dirty="0">
                <a:solidFill>
                  <a:schemeClr val="tx1"/>
                </a:solidFill>
              </a:rPr>
              <a:t>Suppression définitive de la VM et de son disque.</a:t>
            </a:r>
            <a:endParaRPr lang="en-US" sz="15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C6B75"/>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640080"/>
            <a:ext cx="11064240" cy="822960"/>
          </a:xfrm>
          <a:prstGeom prst="rect">
            <a:avLst/>
          </a:prstGeom>
          <a:noFill/>
          <a:ln/>
        </p:spPr>
        <p:txBody>
          <a:bodyPr wrap="square" lIns="0" tIns="0" rIns="0" bIns="0" rtlCol="0" anchor="ctr"/>
          <a:lstStyle/>
          <a:p>
            <a:pPr algn="l" indent="0" marL="0">
              <a:buNone/>
            </a:pPr>
            <a:r>
              <a:rPr lang="en-US" sz="3800" b="1" dirty="0">
                <a:solidFill>
                  <a:schemeClr val="bg1"/>
                </a:solidFill>
              </a:rPr>
              <a:t>Ce que ce TP nous a appris</a:t>
            </a:r>
            <a:endParaRPr lang="en-US" sz="3800" dirty="0"/>
          </a:p>
        </p:txBody>
      </p:sp>
      <p:sp>
        <p:nvSpPr>
          <p:cNvPr id="3" name="Carte conclusion 1"/>
          <p:cNvSpPr/>
          <p:nvPr/>
        </p:nvSpPr>
        <p:spPr>
          <a:xfrm>
            <a:off x="548640" y="1920240"/>
            <a:ext cx="3566160" cy="3291840"/>
          </a:xfrm>
          <a:prstGeom prst="roundRect">
            <a:avLst>
              <a:gd name="adj" fmla="val 4167"/>
            </a:avLst>
          </a:prstGeom>
          <a:solidFill>
            <a:schemeClr val="accent1"/>
          </a:solidFill>
          <a:ln/>
        </p:spPr>
      </p:sp>
      <p:sp>
        <p:nvSpPr>
          <p:cNvPr id="4" name="Numéro 1"/>
          <p:cNvSpPr txBox="1"/>
          <p:nvPr/>
        </p:nvSpPr>
        <p:spPr>
          <a:xfrm>
            <a:off x="822960" y="2103120"/>
            <a:ext cx="914400" cy="822960"/>
          </a:xfrm>
          <a:prstGeom prst="rect">
            <a:avLst/>
          </a:prstGeom>
          <a:noFill/>
          <a:ln/>
        </p:spPr>
        <p:txBody>
          <a:bodyPr wrap="square" lIns="0" tIns="0" rIns="0" bIns="0" rtlCol="0" anchor="t"/>
          <a:lstStyle/>
          <a:p>
            <a:pPr indent="0" marL="0">
              <a:buNone/>
            </a:pPr>
            <a:r>
              <a:rPr lang="en-US" sz="4800" b="1" dirty="0">
                <a:solidFill>
                  <a:schemeClr val="accent2"/>
                </a:solidFill>
              </a:rPr>
              <a:t>1</a:t>
            </a:r>
            <a:endParaRPr lang="en-US" sz="4800" dirty="0"/>
          </a:p>
        </p:txBody>
      </p:sp>
      <p:sp>
        <p:nvSpPr>
          <p:cNvPr id="5" name="Titre conclusion 1"/>
          <p:cNvSpPr txBox="1"/>
          <p:nvPr/>
        </p:nvSpPr>
        <p:spPr>
          <a:xfrm>
            <a:off x="822960" y="3017520"/>
            <a:ext cx="3017520" cy="640080"/>
          </a:xfrm>
          <a:prstGeom prst="rect">
            <a:avLst/>
          </a:prstGeom>
          <a:noFill/>
          <a:ln/>
        </p:spPr>
        <p:txBody>
          <a:bodyPr wrap="square" lIns="0" tIns="0" rIns="0" bIns="0" rtlCol="0" anchor="t"/>
          <a:lstStyle/>
          <a:p>
            <a:pPr indent="0" marL="0">
              <a:buNone/>
            </a:pPr>
            <a:r>
              <a:rPr lang="en-US" sz="2000" b="1" dirty="0">
                <a:solidFill>
                  <a:schemeClr val="bg1"/>
                </a:solidFill>
              </a:rPr>
              <a:t>Une image, un clone</a:t>
            </a:r>
            <a:endParaRPr lang="en-US" sz="2000" dirty="0"/>
          </a:p>
        </p:txBody>
      </p:sp>
      <p:sp>
        <p:nvSpPr>
          <p:cNvPr id="6" name="Texte conclusion 1"/>
          <p:cNvSpPr txBox="1"/>
          <p:nvPr/>
        </p:nvSpPr>
        <p:spPr>
          <a:xfrm>
            <a:off x="822960" y="3749040"/>
            <a:ext cx="3017520" cy="1280160"/>
          </a:xfrm>
          <a:prstGeom prst="rect">
            <a:avLst/>
          </a:prstGeom>
          <a:noFill/>
          <a:ln/>
        </p:spPr>
        <p:txBody>
          <a:bodyPr wrap="square" lIns="0" tIns="0" rIns="0" bIns="0" rtlCol="0" anchor="t"/>
          <a:lstStyle/>
          <a:p>
            <a:pPr indent="0" marL="0">
              <a:buNone/>
            </a:pPr>
            <a:r>
              <a:rPr lang="en-US" sz="1600" dirty="0">
                <a:solidFill>
                  <a:schemeClr val="bg1"/>
                </a:solidFill>
              </a:rPr>
              <a:t>Une machine prête en moins d’une minute, à condition de la personnaliser.</a:t>
            </a:r>
            <a:endParaRPr lang="en-US" sz="1600" dirty="0"/>
          </a:p>
        </p:txBody>
      </p:sp>
      <p:sp>
        <p:nvSpPr>
          <p:cNvPr id="7" name="Carte conclusion 2"/>
          <p:cNvSpPr/>
          <p:nvPr/>
        </p:nvSpPr>
        <p:spPr>
          <a:xfrm>
            <a:off x="4297680" y="1920240"/>
            <a:ext cx="3566160" cy="3291840"/>
          </a:xfrm>
          <a:prstGeom prst="roundRect">
            <a:avLst>
              <a:gd name="adj" fmla="val 4167"/>
            </a:avLst>
          </a:prstGeom>
          <a:solidFill>
            <a:schemeClr val="accent1"/>
          </a:solidFill>
          <a:ln/>
        </p:spPr>
      </p:sp>
      <p:sp>
        <p:nvSpPr>
          <p:cNvPr id="8" name="Numéro 2"/>
          <p:cNvSpPr txBox="1"/>
          <p:nvPr/>
        </p:nvSpPr>
        <p:spPr>
          <a:xfrm>
            <a:off x="4572000" y="2103120"/>
            <a:ext cx="914400" cy="822960"/>
          </a:xfrm>
          <a:prstGeom prst="rect">
            <a:avLst/>
          </a:prstGeom>
          <a:noFill/>
          <a:ln/>
        </p:spPr>
        <p:txBody>
          <a:bodyPr wrap="square" lIns="0" tIns="0" rIns="0" bIns="0" rtlCol="0" anchor="t"/>
          <a:lstStyle/>
          <a:p>
            <a:pPr indent="0" marL="0">
              <a:buNone/>
            </a:pPr>
            <a:r>
              <a:rPr lang="en-US" sz="4800" b="1" dirty="0">
                <a:solidFill>
                  <a:schemeClr val="accent2"/>
                </a:solidFill>
              </a:rPr>
              <a:t>2</a:t>
            </a:r>
            <a:endParaRPr lang="en-US" sz="4800" dirty="0"/>
          </a:p>
        </p:txBody>
      </p:sp>
      <p:sp>
        <p:nvSpPr>
          <p:cNvPr id="9" name="Titre conclusion 2"/>
          <p:cNvSpPr txBox="1"/>
          <p:nvPr/>
        </p:nvSpPr>
        <p:spPr>
          <a:xfrm>
            <a:off x="4572000" y="3017520"/>
            <a:ext cx="3017520" cy="640080"/>
          </a:xfrm>
          <a:prstGeom prst="rect">
            <a:avLst/>
          </a:prstGeom>
          <a:noFill/>
          <a:ln/>
        </p:spPr>
        <p:txBody>
          <a:bodyPr wrap="square" lIns="0" tIns="0" rIns="0" bIns="0" rtlCol="0" anchor="t"/>
          <a:lstStyle/>
          <a:p>
            <a:pPr indent="0" marL="0">
              <a:buNone/>
            </a:pPr>
            <a:r>
              <a:rPr lang="en-US" sz="2000" b="1" dirty="0">
                <a:solidFill>
                  <a:schemeClr val="bg1"/>
                </a:solidFill>
              </a:rPr>
              <a:t>Réseau privé et règles explicites</a:t>
            </a:r>
            <a:endParaRPr lang="en-US" sz="2000" dirty="0"/>
          </a:p>
        </p:txBody>
      </p:sp>
      <p:sp>
        <p:nvSpPr>
          <p:cNvPr id="10" name="Texte conclusion 2"/>
          <p:cNvSpPr txBox="1"/>
          <p:nvPr/>
        </p:nvSpPr>
        <p:spPr>
          <a:xfrm>
            <a:off x="4572000" y="3749040"/>
            <a:ext cx="3017520" cy="1280160"/>
          </a:xfrm>
          <a:prstGeom prst="rect">
            <a:avLst/>
          </a:prstGeom>
          <a:noFill/>
          <a:ln/>
        </p:spPr>
        <p:txBody>
          <a:bodyPr wrap="square" lIns="0" tIns="0" rIns="0" bIns="0" rtlCol="0" anchor="t"/>
          <a:lstStyle/>
          <a:p>
            <a:pPr indent="0" marL="0">
              <a:buNone/>
            </a:pPr>
            <a:r>
              <a:rPr lang="en-US" sz="1600" dirty="0">
                <a:solidFill>
                  <a:schemeClr val="bg1"/>
                </a:solidFill>
              </a:rPr>
              <a:t>Un service n’est joignable que par les ports que l’on ouvre.</a:t>
            </a:r>
            <a:endParaRPr lang="en-US" sz="1600" dirty="0"/>
          </a:p>
        </p:txBody>
      </p:sp>
      <p:sp>
        <p:nvSpPr>
          <p:cNvPr id="11" name="Carte conclusion 3"/>
          <p:cNvSpPr/>
          <p:nvPr/>
        </p:nvSpPr>
        <p:spPr>
          <a:xfrm>
            <a:off x="8046720" y="1920240"/>
            <a:ext cx="3566160" cy="3291840"/>
          </a:xfrm>
          <a:prstGeom prst="roundRect">
            <a:avLst>
              <a:gd name="adj" fmla="val 4167"/>
            </a:avLst>
          </a:prstGeom>
          <a:solidFill>
            <a:schemeClr val="accent1"/>
          </a:solidFill>
          <a:ln/>
        </p:spPr>
      </p:sp>
      <p:sp>
        <p:nvSpPr>
          <p:cNvPr id="12" name="Numéro 3"/>
          <p:cNvSpPr txBox="1"/>
          <p:nvPr/>
        </p:nvSpPr>
        <p:spPr>
          <a:xfrm>
            <a:off x="8321040" y="2103120"/>
            <a:ext cx="914400" cy="822960"/>
          </a:xfrm>
          <a:prstGeom prst="rect">
            <a:avLst/>
          </a:prstGeom>
          <a:noFill/>
          <a:ln/>
        </p:spPr>
        <p:txBody>
          <a:bodyPr wrap="square" lIns="0" tIns="0" rIns="0" bIns="0" rtlCol="0" anchor="t"/>
          <a:lstStyle/>
          <a:p>
            <a:pPr indent="0" marL="0">
              <a:buNone/>
            </a:pPr>
            <a:r>
              <a:rPr lang="en-US" sz="4800" b="1" dirty="0">
                <a:solidFill>
                  <a:schemeClr val="accent2"/>
                </a:solidFill>
              </a:rPr>
              <a:t>3</a:t>
            </a:r>
            <a:endParaRPr lang="en-US" sz="4800" dirty="0"/>
          </a:p>
        </p:txBody>
      </p:sp>
      <p:sp>
        <p:nvSpPr>
          <p:cNvPr id="13" name="Titre conclusion 3"/>
          <p:cNvSpPr txBox="1"/>
          <p:nvPr/>
        </p:nvSpPr>
        <p:spPr>
          <a:xfrm>
            <a:off x="8321040" y="3017520"/>
            <a:ext cx="3017520" cy="640080"/>
          </a:xfrm>
          <a:prstGeom prst="rect">
            <a:avLst/>
          </a:prstGeom>
          <a:noFill/>
          <a:ln/>
        </p:spPr>
        <p:txBody>
          <a:bodyPr wrap="square" lIns="0" tIns="0" rIns="0" bIns="0" rtlCol="0" anchor="t"/>
          <a:lstStyle/>
          <a:p>
            <a:pPr indent="0" marL="0">
              <a:buNone/>
            </a:pPr>
            <a:r>
              <a:rPr lang="en-US" sz="2000" b="1" dirty="0">
                <a:solidFill>
                  <a:schemeClr val="bg1"/>
                </a:solidFill>
              </a:rPr>
              <a:t>Mesurer pour comprendre</a:t>
            </a:r>
            <a:endParaRPr lang="en-US" sz="2000" dirty="0"/>
          </a:p>
        </p:txBody>
      </p:sp>
      <p:sp>
        <p:nvSpPr>
          <p:cNvPr id="14" name="Texte conclusion 3"/>
          <p:cNvSpPr txBox="1"/>
          <p:nvPr/>
        </p:nvSpPr>
        <p:spPr>
          <a:xfrm>
            <a:off x="8321040" y="3749040"/>
            <a:ext cx="3017520" cy="1280160"/>
          </a:xfrm>
          <a:prstGeom prst="rect">
            <a:avLst/>
          </a:prstGeom>
          <a:noFill/>
          <a:ln/>
        </p:spPr>
        <p:txBody>
          <a:bodyPr wrap="square" lIns="0" tIns="0" rIns="0" bIns="0" rtlCol="0" anchor="t"/>
          <a:lstStyle/>
          <a:p>
            <a:pPr indent="0" marL="0">
              <a:buNone/>
            </a:pPr>
            <a:r>
              <a:rPr lang="en-US" sz="1600" dirty="0">
                <a:solidFill>
                  <a:schemeClr val="bg1"/>
                </a:solidFill>
              </a:rPr>
              <a:t>Ce que voit la VM n’est pas ce que consomme l’hôte.</a:t>
            </a:r>
            <a:endParaRPr lang="en-US" sz="1600" dirty="0"/>
          </a:p>
        </p:txBody>
      </p:sp>
      <p:sp>
        <p:nvSpPr>
          <p:cNvPr id="15" name="Remerciement"/>
          <p:cNvSpPr txBox="1"/>
          <p:nvPr/>
        </p:nvSpPr>
        <p:spPr>
          <a:xfrm>
            <a:off x="548640" y="5577840"/>
            <a:ext cx="11064240" cy="548640"/>
          </a:xfrm>
          <a:prstGeom prst="rect">
            <a:avLst/>
          </a:prstGeom>
          <a:noFill/>
          <a:ln/>
        </p:spPr>
        <p:txBody>
          <a:bodyPr wrap="square" lIns="0" tIns="0" rIns="0" bIns="0" rtlCol="0" anchor="t"/>
          <a:lstStyle/>
          <a:p>
            <a:pPr indent="0" marL="0">
              <a:buNone/>
            </a:pPr>
            <a:r>
              <a:rPr lang="en-US" sz="2400" b="1" dirty="0">
                <a:solidFill>
                  <a:schemeClr val="accent2"/>
                </a:solidFill>
              </a:rPr>
              <a:t>Merci de votre attention</a:t>
            </a:r>
            <a:endParaRPr lang="en-US" sz="2400" dirty="0"/>
          </a:p>
        </p:txBody>
      </p:sp>
    </p:spTree>
  </p:cSld>
  <p:clrMapOvr>
    <a:masterClrMapping/>
  </p:clrMapOvr>
</p:sld>
</file>

<file path=ppt/theme/theme1.xml><?xml version="1.0" encoding="utf-8"?>
<a:theme xmlns:a="http://schemas.openxmlformats.org/drawingml/2006/main" name="TP Cloud">
  <a:themeElements>
    <a:clrScheme name="TP Cloud">
      <a:dk1>
        <a:srgbClr val="1B2A34"/>
      </a:dk1>
      <a:lt1>
        <a:srgbClr val="FFFFFF"/>
      </a:lt1>
      <a:dk2>
        <a:srgbClr val="0E2A3B"/>
      </a:dk2>
      <a:lt2>
        <a:srgbClr val="EAF1F4"/>
      </a:lt2>
      <a:accent1>
        <a:srgbClr val="1F7A8C"/>
      </a:accent1>
      <a:accent2>
        <a:srgbClr val="F4A259"/>
      </a:accent2>
      <a:accent3>
        <a:srgbClr val="3E8E7E"/>
      </a:accent3>
      <a:accent4>
        <a:srgbClr val="C8553D"/>
      </a:accent4>
      <a:accent5>
        <a:srgbClr val="5C6B75"/>
      </a:accent5>
      <a:accent6>
        <a:srgbClr val="8FB8C4"/>
      </a:accent6>
      <a:hlink>
        <a:srgbClr val="1F7A8C"/>
      </a:hlink>
      <a:folHlink>
        <a:srgbClr val="5C6B75"/>
      </a:folHlink>
    </a:clrScheme>
    <a:fontScheme name="TP Cloud">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TP2 - Deux machines virtuelles en réseau avec VirtualBox</dc:title>
  <dc:subject>PptxGenJS Presentation</dc:subject>
  <dc:creator>Groupe TP Cloud</dc:creator>
  <cp:lastModifiedBy>Groupe TP Cloud</cp:lastModifiedBy>
  <cp:revision>1</cp:revision>
  <dcterms:created xsi:type="dcterms:W3CDTF">2026-10-30T09:22:03Z</dcterms:created>
  <dcterms:modified xsi:type="dcterms:W3CDTF">2026-10-30T09:22:03Z</dcterms:modified>
</cp:coreProperties>
</file>